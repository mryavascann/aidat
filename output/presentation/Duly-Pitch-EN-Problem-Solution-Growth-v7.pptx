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1c61b2f227874adf" /><Relationship Type="http://schemas.openxmlformats.org/officeDocument/2006/relationships/extended-properties" Target="/docProps/app.xml" Id="Ra4d11aa822424f3b" /><Relationship Type="http://schemas.openxmlformats.org/officeDocument/2006/relationships/officeDocument" Target="/ppt/presentation.xml" Id="Rd0417ad4e433476a" /></Relationships>
</file>

<file path=ppt/presentation.xml><?xml version="1.0" encoding="utf-8"?>
<p:presentation xmlns:p="http://schemas.openxmlformats.org/presentationml/2006/main">
  <p:sldMasterIdLst>
    <p:sldMasterId xmlns:r="http://schemas.openxmlformats.org/officeDocument/2006/relationships" id="2147483648" r:id="R9734e87d871e4bf1"/>
  </p:sldMasterIdLst>
  <p:notesMasterIdLst>
    <p:notesMasterId xmlns:r="http://schemas.openxmlformats.org/officeDocument/2006/relationships" r:id="Ra1b46dac2e794148"/>
  </p:notesMasterIdLst>
  <p:sldIdLst>
    <p:sldId xmlns:r="http://schemas.openxmlformats.org/officeDocument/2006/relationships" id="256" r:id="R3179163ce6724070"/>
    <p:sldId xmlns:r="http://schemas.openxmlformats.org/officeDocument/2006/relationships" id="257" r:id="Re296514942374dbe"/>
    <p:sldId xmlns:r="http://schemas.openxmlformats.org/officeDocument/2006/relationships" id="258" r:id="Rd75b8b35a86e489c"/>
    <p:sldId xmlns:r="http://schemas.openxmlformats.org/officeDocument/2006/relationships" id="259" r:id="Rfee55e3ca94b437c"/>
    <p:sldId xmlns:r="http://schemas.openxmlformats.org/officeDocument/2006/relationships" id="260" r:id="R50244cc385f04aac"/>
    <p:sldId xmlns:r="http://schemas.openxmlformats.org/officeDocument/2006/relationships" id="261" r:id="R04feffe1b07e427d"/>
    <p:sldId xmlns:r="http://schemas.openxmlformats.org/officeDocument/2006/relationships" id="262" r:id="Rda43014bdd8d43a7"/>
    <p:sldId xmlns:r="http://schemas.openxmlformats.org/officeDocument/2006/relationships" id="263" r:id="Rb3da23474bc94dfd"/>
    <p:sldId xmlns:r="http://schemas.openxmlformats.org/officeDocument/2006/relationships" id="264" r:id="Re851181ccb2d4f58"/>
    <p:sldId xmlns:r="http://schemas.openxmlformats.org/officeDocument/2006/relationships" id="265" r:id="Re4208488331b4eca"/>
    <p:sldId xmlns:r="http://schemas.openxmlformats.org/officeDocument/2006/relationships" id="266" r:id="R4ae2c665fbd84f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875c3d25a7140f5" /><Relationship Type="http://schemas.openxmlformats.org/officeDocument/2006/relationships/slideMaster" Target="/ppt/slideMasters/slideMaster1.xml" Id="R9734e87d871e4bf1" /><Relationship Type="http://schemas.openxmlformats.org/officeDocument/2006/relationships/notesMaster" Target="/ppt/notesMasters/notesMaster1.xml" Id="Ra1b46dac2e794148" /><Relationship Type="http://schemas.openxmlformats.org/officeDocument/2006/relationships/presProps" Target="/ppt/presProps.xml" Id="R7d687eca67774685" /><Relationship Type="http://schemas.openxmlformats.org/officeDocument/2006/relationships/tableStyles" Target="/ppt/tableStyles.xml" Id="R22bf156482514448" /><Relationship Type="http://schemas.openxmlformats.org/officeDocument/2006/relationships/slide" Target="/ppt/slides/slide1.xml" Id="R3179163ce6724070" /><Relationship Type="http://schemas.openxmlformats.org/officeDocument/2006/relationships/slide" Target="/ppt/slides/slide2.xml" Id="Re296514942374dbe" /><Relationship Type="http://schemas.openxmlformats.org/officeDocument/2006/relationships/slide" Target="/ppt/slides/slide3.xml" Id="Rd75b8b35a86e489c" /><Relationship Type="http://schemas.openxmlformats.org/officeDocument/2006/relationships/slide" Target="/ppt/slides/slide4.xml" Id="Rfee55e3ca94b437c" /><Relationship Type="http://schemas.openxmlformats.org/officeDocument/2006/relationships/slide" Target="/ppt/slides/slide5.xml" Id="R50244cc385f04aac" /><Relationship Type="http://schemas.openxmlformats.org/officeDocument/2006/relationships/slide" Target="/ppt/slides/slide6.xml" Id="R04feffe1b07e427d" /><Relationship Type="http://schemas.openxmlformats.org/officeDocument/2006/relationships/slide" Target="/ppt/slides/slide7.xml" Id="Rda43014bdd8d43a7" /><Relationship Type="http://schemas.openxmlformats.org/officeDocument/2006/relationships/slide" Target="/ppt/slides/slide8.xml" Id="Rb3da23474bc94dfd" /><Relationship Type="http://schemas.openxmlformats.org/officeDocument/2006/relationships/slide" Target="/ppt/slides/slide9.xml" Id="Re851181ccb2d4f58" /><Relationship Type="http://schemas.openxmlformats.org/officeDocument/2006/relationships/slide" Target="/ppt/slides/slide10.xml" Id="Re4208488331b4eca" /><Relationship Type="http://schemas.openxmlformats.org/officeDocument/2006/relationships/slide" Target="/ppt/slides/slide11.xml" Id="R4ae2c665fbd84f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ee7e9cd5b9a45b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916b6d7bb94cdc" /><Relationship Type="http://schemas.openxmlformats.org/officeDocument/2006/relationships/notesMaster" Target="/ppt/notesMasters/notesMaster1.xml" Id="R3e5c8813f3864e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cd5cdd648740e5" /><Relationship Type="http://schemas.openxmlformats.org/officeDocument/2006/relationships/notesMaster" Target="/ppt/notesMasters/notesMaster1.xml" Id="R28ee7fe0f3804d3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fc47a6697c47aa" /><Relationship Type="http://schemas.openxmlformats.org/officeDocument/2006/relationships/notesMaster" Target="/ppt/notesMasters/notesMaster1.xml" Id="R123cfd29e8fa4b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2b2cd04b6c4f8c" /><Relationship Type="http://schemas.openxmlformats.org/officeDocument/2006/relationships/notesMaster" Target="/ppt/notesMasters/notesMaster1.xml" Id="Ra03b80bc46f04b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d0e937707c2d4f76" /><Relationship Type="http://schemas.openxmlformats.org/officeDocument/2006/relationships/notesMaster" Target="/ppt/notesMasters/notesMaster1.xml" Id="R55ba647f634342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7a4a8b0b624435" /><Relationship Type="http://schemas.openxmlformats.org/officeDocument/2006/relationships/notesMaster" Target="/ppt/notesMasters/notesMaster1.xml" Id="Re32550ef25324c4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6459a9bacf4a99" /><Relationship Type="http://schemas.openxmlformats.org/officeDocument/2006/relationships/notesMaster" Target="/ppt/notesMasters/notesMaster1.xml" Id="R90872bdb46694d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e46ef1f29d4eda" /><Relationship Type="http://schemas.openxmlformats.org/officeDocument/2006/relationships/notesMaster" Target="/ppt/notesMasters/notesMaster1.xml" Id="R8702cfda74ae48d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451012fac949b3" /><Relationship Type="http://schemas.openxmlformats.org/officeDocument/2006/relationships/notesMaster" Target="/ppt/notesMasters/notesMaster1.xml" Id="R9b7e0442531246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98679c74ac34564" /><Relationship Type="http://schemas.openxmlformats.org/officeDocument/2006/relationships/notesMaster" Target="/ppt/notesMasters/notesMaster1.xml" Id="Rbb6a05ea60834b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6afd3992404ef3" /><Relationship Type="http://schemas.openxmlformats.org/officeDocument/2006/relationships/notesMaster" Target="/ppt/notesMasters/notesMaster1.xml" Id="R358ee768daf14a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 0:00–0:10 / 10 seconds</a:t>
            </a:r>
          </a:p>
          <a:p xmlns:a="http://schemas.openxmlformats.org/drawingml/2006/main">
            <a:r>
              <a:t/>
            </a:r>
          </a:p>
          <a:p xmlns:a="http://schemas.openxmlformats.org/drawingml/2006/main">
            <a:r>
              <a:t>ENGLISH SCRIPT</a:t>
            </a:r>
          </a:p>
          <a:p xmlns:a="http://schemas.openxmlformats.org/drawingml/2006/main">
            <a:r>
              <a:t>This is Duly, a shared treasury for apartment buildings.</a:t>
            </a:r>
          </a:p>
          <a:p xmlns:a="http://schemas.openxmlformats.org/drawingml/2006/main">
            <a:r>
              <a:t/>
            </a:r>
          </a:p>
          <a:p xmlns:a="http://schemas.openxmlformats.org/drawingml/2006/main">
            <a:r>
              <a:t>TÜRKÇE PROVA</a:t>
            </a:r>
          </a:p>
          <a:p xmlns:a="http://schemas.openxmlformats.org/drawingml/2006/main">
            <a:r>
              <a:t>Duly, apartmanlar için ortak bir kasa.</a:t>
            </a:r>
          </a:p>
          <a:p xmlns:a="http://schemas.openxmlformats.org/drawingml/2006/main">
            <a:r>
              <a:t/>
            </a:r>
          </a:p>
          <a:p xmlns:a="http://schemas.openxmlformats.org/drawingml/2006/main">
            <a:r>
              <a:t>STAGE CUE</a:t>
            </a:r>
          </a:p>
          <a:p xmlns:a="http://schemas.openxmlformats.org/drawingml/2006/main">
            <a:r>
              <a:t>Ürün adını söyle ve kısa bir duraklama yap. Ana açıklamayı problem slaytına bırak.</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
            </a:r>
          </a:p>
          <a:p xmlns:a="http://schemas.openxmlformats.org/drawingml/2006/main">
            <a:r>
              <a:t>Sources: README.md; duly/docs/stories/02-building-governance.md; duly/docs/stories/03-monthly-dues.md; duly/deployments/building-testnet-v3.json; user-supplied docs.pdf pages 8–11. Official template foundation: Cover, The Solution, PMF, Technical Workflow, The Team; https://docs.google.com/presentation/d/1oRWx77PH3WsQ67Is9Xhg3GVNmkwVO7lU4Ab241__ahE/edit . Visual design adapted to Duly branding.</a:t>
            </a:r>
          </a:p>
          <a:p xmlns:a="http://schemas.openxmlformats.org/drawingml/2006/main">
            <a:r>
              <a:t>Cover art: Higgsfield / Recraft V4.1, job 415d0b59-862c-48b7-8dbf-1c3e3ace8a04. Generated architectural illustration, not a real building.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 0:10–0:35 / 25 seconds</a:t>
            </a:r>
          </a:p>
          <a:p xmlns:a="http://schemas.openxmlformats.org/drawingml/2006/main">
            <a:r>
              <a:t/>
            </a:r>
          </a:p>
          <a:p xmlns:a="http://schemas.openxmlformats.org/drawingml/2006/main">
            <a:r>
              <a:t>ENGLISH SCRIPT</a:t>
            </a:r>
          </a:p>
          <a:p xmlns:a="http://schemas.openxmlformats.org/drawingml/2006/main">
            <a:r>
              <a:t>Residents pay dues, but often depend on the manager for answers. How much is left? Who approved the repair? Where did the money go?</a:t>
            </a:r>
          </a:p>
          <a:p xmlns:a="http://schemas.openxmlformats.org/drawingml/2006/main">
            <a:r>
              <a:t/>
            </a:r>
          </a:p>
          <a:p xmlns:a="http://schemas.openxmlformats.org/drawingml/2006/main">
            <a:r>
              <a:t>TÜRKÇE PROVA</a:t>
            </a:r>
          </a:p>
          <a:p xmlns:a="http://schemas.openxmlformats.org/drawingml/2006/main">
            <a:r>
              <a:t>Sakinler aidat ödüyor ama cevaplar için çoğu zaman yöneticiye bağımlı. Kasada ne kaldı? Tamiri kim onayladı? Para nereye gitti?</a:t>
            </a:r>
          </a:p>
          <a:p xmlns:a="http://schemas.openxmlformats.org/drawingml/2006/main">
            <a:r>
              <a:t/>
            </a:r>
          </a:p>
          <a:p xmlns:a="http://schemas.openxmlformats.org/drawingml/2006/main">
            <a:r>
              <a:t>STAGE CUE</a:t>
            </a:r>
          </a:p>
          <a:p xmlns:a="http://schemas.openxmlformats.org/drawingml/2006/main">
            <a:r>
              <a:t>Slayttaki üç soruyu yavaşça oku. Asansör tamiri örneğini göster. Anket sayıları veya genelleştirilmiş pazar istatistiği kullanma.</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The elevator repair is an illustrative scenario from README.md, not a documented incident or a market prevalence claim. The problem is fragmented visibility and limited participation before spending.</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 0:35–1:00 / 25 seconds</a:t>
            </a:r>
          </a:p>
          <a:p xmlns:a="http://schemas.openxmlformats.org/drawingml/2006/main">
            <a:r>
              <a:t/>
            </a:r>
          </a:p>
          <a:p xmlns:a="http://schemas.openxmlformats.org/drawingml/2006/main">
            <a:r>
              <a:t>ENGLISH SCRIPT</a:t>
            </a:r>
          </a:p>
          <a:p xmlns:a="http://schemas.openxmlformats.org/drawingml/2006/main">
            <a:r>
              <a:t>Duly puts the balance and spending decisions in one shared treasury. Each apartment has one vote. Residents can approve or object. Stellar checks the rules before funds leave.</a:t>
            </a:r>
          </a:p>
          <a:p xmlns:a="http://schemas.openxmlformats.org/drawingml/2006/main">
            <a:r>
              <a:t/>
            </a:r>
          </a:p>
          <a:p xmlns:a="http://schemas.openxmlformats.org/drawingml/2006/main">
            <a:r>
              <a:t>TÜRKÇE PROVA</a:t>
            </a:r>
          </a:p>
          <a:p xmlns:a="http://schemas.openxmlformats.org/drawingml/2006/main">
            <a:r>
              <a:t>Duly, bakiyeyi ve harcama kararlarını ortak kasada birleştiriyor. Her dairenin bir oyu var. Sakinler onaylayabiliyor ya da itiraz edebiliyor. Para çıkmadan önce Stellar kuralları kontrol ediyor.</a:t>
            </a:r>
          </a:p>
          <a:p xmlns:a="http://schemas.openxmlformats.org/drawingml/2006/main">
            <a:r>
              <a:t/>
            </a:r>
          </a:p>
          <a:p xmlns:a="http://schemas.openxmlformats.org/drawingml/2006/main">
            <a:r>
              <a:t>STAGE CUE</a:t>
            </a:r>
          </a:p>
          <a:p xmlns:a="http://schemas.openxmlformats.org/drawingml/2006/main">
            <a:r>
              <a:t>Önceki slayttaki her soruyu bu slayttaki karşılığıyla eşleştir. Her rutin gider için yeni oy gerektiğini söyleme. İki oy, üç daireli örnekte çoğunluktur.</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A majority can allow early execution. Routine spending within an approved budget to an approved recipient may proceed without a fresh vote. New-recipient or budget exceptions can also proceed after the normal objection window if no objection is raised. The current MVP pays the manager’s saved IBAN, not a verified supplier. Artwork: existing Higgsfield / Recraft V4.1 conceptual apartment illustration, job b41c0373-c9d8-4ace-a1df-4e896a098395.</a:t>
            </a:r>
          </a:p>
          <a:p xmlns:a="http://schemas.openxmlformats.org/drawingml/2006/main">
            <a:r>
              <a:t>Sources: README.md; duly/docs/stories/02-building-governance.md; duly/docs/stories/03-monthly-dues.md; duly/deployments/building-testnet-v3.json; user-supplied docs.pdf pages 8–11. Official template foundation: Cover, The Solution, PMF, Technical Workflow, The Team; https://docs.google.com/presentation/d/1oRWx77PH3WsQ67Is9Xhg3GVNmkwVO7lU4Ab241__ahE/edit . Visual design adapted to Duly branding.</a:t>
            </a:r>
          </a:p>
          <a:p xmlns:a="http://schemas.openxmlformats.org/drawingml/2006/main">
            <a:r>
              <a:t>Art: Higgsfield / Recraft V4.1, job b41c0373-c9d8-4ace-a1df-4e896a098395. The illustration is conceptual. Payout is to the current manager’s saved IBAN, not a verified supplier payment.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Workflow / 1:00–1:15 / 15 seconds</a:t>
            </a:r>
          </a:p>
          <a:p xmlns:a="http://schemas.openxmlformats.org/drawingml/2006/main">
            <a:r>
              <a:t/>
            </a:r>
          </a:p>
          <a:p xmlns:a="http://schemas.openxmlformats.org/drawingml/2006/main">
            <a:r>
              <a:t>ENGLISH SCRIPT</a:t>
            </a:r>
          </a:p>
          <a:p xmlns:a="http://schemas.openxmlformats.org/drawingml/2006/main">
            <a:r>
              <a:t>The reserve connects to DeFindex. Bank payments use a TRY anchor. This is Testnet, with simulated bank settlement. Let’s see the product.</a:t>
            </a:r>
          </a:p>
          <a:p xmlns:a="http://schemas.openxmlformats.org/drawingml/2006/main">
            <a:r>
              <a:t/>
            </a:r>
          </a:p>
          <a:p xmlns:a="http://schemas.openxmlformats.org/drawingml/2006/main">
            <a:r>
              <a:t>TÜRKÇE PROVA</a:t>
            </a:r>
          </a:p>
          <a:p xmlns:a="http://schemas.openxmlformats.org/drawingml/2006/main">
            <a:r>
              <a:t>Rezerv DeFindex akışına bağlı. Banka ödemelerinde TRY anchor kullanılıyor. Testnet üzerindeyiz ve banka ödemesi simülasyon. Şimdi ürünü görelim.</a:t>
            </a:r>
          </a:p>
          <a:p xmlns:a="http://schemas.openxmlformats.org/drawingml/2006/main">
            <a:r>
              <a:t/>
            </a:r>
          </a:p>
          <a:p xmlns:a="http://schemas.openxmlformats.org/drawingml/2006/main">
            <a:r>
              <a:t>STAGE CUE</a:t>
            </a:r>
          </a:p>
          <a:p xmlns:a="http://schemas.openxmlformats.org/drawingml/2006/main">
            <a:r>
              <a:t>Şemayı tek tek okumak zorunda değilsin. Rezervi ve banka bağlantısını göster. Simülasyon sınırını açık söyle ve videoya geç.</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
            </a:r>
          </a:p>
          <a:p xmlns:a="http://schemas.openxmlformats.org/drawingml/2006/main">
            <a:r>
              <a:t>Sources: README.md; duly/docs/stories/02-building-governance.md; duly/docs/stories/03-monthly-dues.md; duly/deployments/building-testnet-v3.json; user-supplied docs.pdf pages 8–11. Official template foundation: Cover, The Solution, PMF, Technical Workflow, The Team; https://docs.google.com/presentation/d/1oRWx77PH3WsQ67Is9Xhg3GVNmkwVO7lU4Ab241__ahE/edit . Visual design adapted to Duly branding.</a:t>
            </a:r>
          </a:p>
          <a:p xmlns:a="http://schemas.openxmlformats.org/drawingml/2006/main">
            <a:r>
              <a:t>The diagram describes outflow. TRY on-ramp deposits fund a classic account before a signed contribution. DeFindex reserve is liquid with no active yield strategy. The integration is a compatible deployed vault called by Soroban, not a claim to use @defindex/sdk.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Demo Video / 1:15–2:00 / 45 seconds</a:t>
            </a:r>
          </a:p>
          <a:p xmlns:a="http://schemas.openxmlformats.org/drawingml/2006/main">
            <a:r>
              <a:t/>
            </a:r>
          </a:p>
          <a:p xmlns:a="http://schemas.openxmlformats.org/drawingml/2006/main">
            <a:r>
              <a:t>ENGLISH SCRIPT</a:t>
            </a:r>
          </a:p>
          <a:p xmlns:a="http://schemas.openxmlformats.org/drawingml/2006/main">
            <a:r>
              <a:t>[Play the 45-second silent product demo. No additional speech is needed.]</a:t>
            </a:r>
          </a:p>
          <a:p xmlns:a="http://schemas.openxmlformats.org/drawingml/2006/main">
            <a:r>
              <a:t/>
            </a:r>
          </a:p>
          <a:p xmlns:a="http://schemas.openxmlformats.org/drawingml/2006/main">
            <a:r>
              <a:t>TÜRKÇE PROVA</a:t>
            </a:r>
          </a:p>
          <a:p xmlns:a="http://schemas.openxmlformats.org/drawingml/2006/main">
            <a:r>
              <a:t>45 saniyelik ürün videosunu oynat. İngilizce başlıklar akışı anlatıyor; konuşmak gerekmiyor.</a:t>
            </a:r>
          </a:p>
          <a:p xmlns:a="http://schemas.openxmlformats.org/drawingml/2006/main">
            <a:r>
              <a:t/>
            </a:r>
          </a:p>
          <a:p xmlns:a="http://schemas.openxmlformats.org/drawingml/2006/main">
            <a:r>
              <a:t>STAGE CUE</a:t>
            </a:r>
          </a:p>
          <a:p xmlns:a="http://schemas.openxmlformats.org/drawingml/2006/main">
            <a:r>
              <a:t>Video gömülü ve otomatik başlayacak şekilde ayarlı. Gerekirse video alanına bir kez tıkla. Bitince kullanıcı kazanma planına geç.</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VIDEO EVIDENCE</a:t>
            </a:r>
          </a:p>
          <a:p xmlns:a="http://schemas.openxmlformats.org/drawingml/2006/main">
            <a:r>
              <a:t>Recorded from https://duly-sepia.vercel.app/ on 2026-09-20 using an isolated solo demo in Higgsfield.</a:t>
            </a:r>
          </a:p>
          <a:p xmlns:a="http://schemas.openxmlformats.org/drawingml/2006/main">
            <a:r>
              <a:t>Edited and rendered with native Higgsedit: 1920×1080, H.264, 30 fps, 45 seconds, silent.</a:t>
            </a:r>
          </a:p>
          <a:p xmlns:a="http://schemas.openxmlformats.org/drawingml/2006/main">
            <a:r>
              <a:t>Sequence: building QR; 5 test USDC contribution; shared balance; 100 TRY repair; automatic 2.27 USDC ceiling; majority of two out of three apartments; simulated bank settlement.</a:t>
            </a:r>
          </a:p>
          <a:p xmlns:a="http://schemas.openxmlformats.org/drawingml/2006/main">
            <a:r>
              <a:t>Waiting times have been removed. The other apartment votes are simulated demo signatures, not audience participants.</a:t>
            </a:r>
          </a:p>
          <a:p xmlns:a="http://schemas.openxmlformats.org/drawingml/2006/main">
            <a:r>
              <a:t>Treasury: CBQJI2UVQHCMQSWRBIK7ULUX4N5Y7UO23LQMAKWEZEVVJCXH5VO6RY4T</a:t>
            </a:r>
          </a:p>
          <a:p xmlns:a="http://schemas.openxmlformats.org/drawingml/2006/main">
            <a:r>
              <a:t>Bank reference: FAST-MTHN5NPR0A (workshop simulation).</a:t>
            </a:r>
          </a:p>
          <a:p xmlns:a="http://schemas.openxmlformats.org/drawingml/2006/main">
            <a:r>
              <a:t>On-chain receipt: https://stellar.expert/explorer/testnet/tx/b7cecf6c5c7d3a2e0be1bb20ce3fd9735d54482da4ef01cf4431d3cabfe3c285</a:t>
            </a:r>
          </a:p>
          <a:p xmlns:a="http://schemas.openxmlformats.org/drawingml/2006/main">
            <a:r>
              <a:t>The old 100 TRY proof remains only in the appendix as separately dated evidence.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 Acquisition Plan / 2:00–2:35 / 35 seconds</a:t>
            </a:r>
          </a:p>
          <a:p xmlns:a="http://schemas.openxmlformats.org/drawingml/2006/main">
            <a:r>
              <a:t/>
            </a:r>
          </a:p>
          <a:p xmlns:a="http://schemas.openxmlformats.org/drawingml/2006/main">
            <a:r>
              <a:t>ENGLISH SCRIPT</a:t>
            </a:r>
          </a:p>
          <a:p xmlns:a="http://schemas.openxmlformats.org/drawingml/2006/main">
            <a:r>
              <a:t>We will reach volunteer managers through our network and local groups. Each manager invites residents by QR. We guide the first dues cycle, measure repeat use, and ask active managers for referrals. These are planned pilots.</a:t>
            </a:r>
          </a:p>
          <a:p xmlns:a="http://schemas.openxmlformats.org/drawingml/2006/main">
            <a:r>
              <a:t/>
            </a:r>
          </a:p>
          <a:p xmlns:a="http://schemas.openxmlformats.org/drawingml/2006/main">
            <a:r>
              <a:t>TÜRKÇE PROVA</a:t>
            </a:r>
          </a:p>
          <a:p xmlns:a="http://schemas.openxmlformats.org/drawingml/2006/main">
            <a:r>
              <a:t>İlk olarak çevremiz ve yerel gruplar üzerinden gönüllü bina yöneticilerine ulaşacağız. Yönetici sakinleri QR ile davet edecek. İlk aidat döngüsünü birlikte tamamlayacağız, sonraki dönemde geri dönüşü ölçeceğiz ve aktif yöneticilerden başka bir bina için referans isteyeceğiz. Bu, planladığımız pilot süreci.</a:t>
            </a:r>
          </a:p>
          <a:p xmlns:a="http://schemas.openxmlformats.org/drawingml/2006/main">
            <a:r>
              <a:t/>
            </a:r>
          </a:p>
          <a:p xmlns:a="http://schemas.openxmlformats.org/drawingml/2006/main">
            <a:r>
              <a:t>STAGE CUE</a:t>
            </a:r>
          </a:p>
          <a:p xmlns:a="http://schemas.openxmlformats.org/drawingml/2006/main">
            <a:r>
              <a:t>Ulaşma kanalı, bina içi davet ve tekrar kullanım sırasını koru. Gerçekleşmiş pilot, müşteri veya anlaşma gibi anlatma. Pilot hedefi bir aidat dönemi ve bir onaylı gider.</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This slide proposes a pilot acquisition hypothesis. It does not claim existing pilots, partnerships, paying customers or validated retention. Initial outreach would use the team’s own network and local resident groups. Manager onboarding is the proposed acquisition unit, followed by resident QR invitations. Track manager contacts, building activation, repeat participation next dues cycle and referred buildings. Run the first pilots on Testnet with test funds. Real payment pilots require a suitable bank/anchor partner, legal review and independent security work. Subscription pricing and willingness to pay remain unvalidated.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Team &amp; Live Demo / 2:35–3:00 / 25 seconds</a:t>
            </a:r>
          </a:p>
          <a:p xmlns:a="http://schemas.openxmlformats.org/drawingml/2006/main">
            <a:r>
              <a:t/>
            </a:r>
          </a:p>
          <a:p xmlns:a="http://schemas.openxmlformats.org/drawingml/2006/main">
            <a:r>
              <a:t>ENGLISH SCRIPT</a:t>
            </a:r>
          </a:p>
          <a:p xmlns:a="http://schemas.openxmlformats.org/drawingml/2006/main">
            <a:r>
              <a:t>We built the app, treasury rules and payment flow. Now let’s run a building together. I will be the manager. You are the residents. Let’s pay test dues and vote.</a:t>
            </a:r>
          </a:p>
          <a:p xmlns:a="http://schemas.openxmlformats.org/drawingml/2006/main">
            <a:r>
              <a:t/>
            </a:r>
          </a:p>
          <a:p xmlns:a="http://schemas.openxmlformats.org/drawingml/2006/main">
            <a:r>
              <a:t>TÜRKÇE PROVA</a:t>
            </a:r>
          </a:p>
          <a:p xmlns:a="http://schemas.openxmlformats.org/drawingml/2006/main">
            <a:r>
              <a:t>Uygulamayı, kasa kurallarını ve ödeme akışını geliştirdik. Şimdi birlikte bir bina yönetelim. Ben yönetici olacağım, siz sakinlersiniz. Test aidatı ödeyip oy verelim.</a:t>
            </a:r>
          </a:p>
          <a:p xmlns:a="http://schemas.openxmlformats.org/drawingml/2006/main">
            <a:r>
              <a:t/>
            </a:r>
          </a:p>
          <a:p xmlns:a="http://schemas.openxmlformats.org/drawingml/2006/main">
            <a:r>
              <a:t>STAGE CUE</a:t>
            </a:r>
          </a:p>
          <a:p xmlns:a="http://schemas.openxmlformats.org/drawingml/2006/main">
            <a:r>
              <a:t>Üç dakikalık bölüm burada biter. Hazır iki gönüllüye dön. Ardından canlı oturum için hazırlanan binanın gerçek QR ekranını aç.</a:t>
            </a:r>
          </a:p>
          <a:p xmlns:a="http://schemas.openxmlformats.org/drawingml/2006/main">
            <a:r>
              <a:t/>
            </a:r>
          </a:p>
          <a:p xmlns:a="http://schemas.openxmlformats.org/drawingml/2006/main">
            <a:r>
              <a:t>Sources: README.md; duly/docs/handbook.md, Judging &amp; Submission Criteria; duly/docs/stories/02-building-governance.md; duly/contracts/duly-building/src/lib.rs. Project scope and target users come from the supplied repository. No market size or adoption count is claimed.</a:t>
            </a:r>
          </a:p>
          <a:p xmlns:a="http://schemas.openxmlformats.org/drawingml/2006/main">
            <a:r>
              <a:t/>
            </a:r>
          </a:p>
          <a:p xmlns:a="http://schemas.openxmlformats.org/drawingml/2006/main">
            <a:r>
              <a:t>Sources: README.md; duly/docs/stories/02-building-governance.md; duly/docs/stories/03-monthly-dues.md; duly/deployments/building-testnet-v3.json; user-supplied docs.pdf pages 8–11. Official template foundation: Cover, The Solution, PMF, Technical Workflow, The Team; https://docs.google.com/presentation/d/1oRWx77PH3WsQ67Is9Xhg3GVNmkwVO7lU4Ab241__ahE/edit . Visual design adapted to Duly branding.</a:t>
            </a:r>
          </a:p>
          <a:p xmlns:a="http://schemas.openxmlformats.org/drawingml/2006/main">
            <a:r>
              <a:t>Live audience session follows the three-minute spoken introduction. Suggested format: presenter as manager and apartment 1, two volunteers as apartment owners 2 and 3, each using a separate account in one normal testnet building. Accounts, seat assignments and test USDC must be ready before the talk. Show the actual building QR from the app Share building panel. A generic homepage QR would not identify this building. QR access does not grant voting rights. Actual team names and track remain unconfirmed.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Outside the three-minute presentation. Open only for questions.</a:t>
            </a:r>
          </a:p>
          <a:p xmlns:a="http://schemas.openxmlformats.org/drawingml/2006/main">
            <a:r>
              <a:t>Use for questions about trust, custody, identity or whether the app is fully decentralized. Payout to the manager does not prove a supplier receives funds.</a:t>
            </a:r>
          </a:p>
          <a:p xmlns:a="http://schemas.openxmlformats.org/drawingml/2006/main">
            <a:r>
              <a:t>Sources: README.md; duly/docs/evaluation-guide.md; duly/docs/stories/02-building-governance.md; duly/docs/stories/03-monthly-dues.md.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Outside the three-minute presentation. Open only for questions.</a:t>
            </a:r>
          </a:p>
          <a:p xmlns:a="http://schemas.openxmlformats.org/drawingml/2006/main">
            <a:r>
              <a:t>The audience session uses a normal testnet building with real separate participant signatures. Two yes votes in a three-seat building form a majority and may authorize earlier. Solo demo is only a separately labelled fallback. Both timestamp and ledger boundaries must pass when relying on a notice period. The fixed budget does not reset spent amounts when changed. Dues periods are not calendar months.</a:t>
            </a:r>
          </a:p>
          <a:p xmlns:a="http://schemas.openxmlformats.org/drawingml/2006/main">
            <a:r>
              <a:t>Sources: README.md; duly/docs/evaluation-guide.md; duly/docs/stories/02-building-governance.md; duly/docs/stories/03-monthly-dues.md.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Outside the three-minute presentation. Open only for questions.</a:t>
            </a:r>
          </a:p>
          <a:p xmlns:a="http://schemas.openxmlformats.org/drawingml/2006/main">
            <a:r>
              <a:t>Suggested session setup, not a claim that this audience session already happened. Use normal building setup with three distinct pre-created accounts and test USDC balances. Presenter is the manager. Participants choose Yes or Object in the expense interface. An objection without majority approval keeps the payment waiting. The QR shares the building URL, while voting rights come from fixed owner/delegate records. Sources: duly/web/src/BuildingApp.tsx eligibleSeats, createExpense, voteExpense, setup and transfer/delegate forms; duly/web/src/components/BuildingAccess.tsx ShareBuilding.</a:t>
            </a:r>
          </a:p>
          <a:p xmlns:a="http://schemas.openxmlformats.org/drawingml/2006/main">
            <a:r>
              <a:t>Sources: README.md; duly/docs/evaluation-guide.md; duly/docs/stories/02-building-governance.md; duly/docs/stories/03-monthly-dues.md.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Outside the three-minute presentation. Open only for questions.</a:t>
            </a:r>
          </a:p>
          <a:p xmlns:a="http://schemas.openxmlformats.org/drawingml/2006/main">
            <a:r>
              <a:t>Payment transaction: https://stellar.expert/explorer/testnet/tx/8037e829426810484107dc51389a648f030c9f67c522e443ac54995a56a54bb0 . The payment proof belongs to a separate demo building; do not conflate it with the normal treasury.</a:t>
            </a:r>
          </a:p>
          <a:p xmlns:a="http://schemas.openxmlformats.org/drawingml/2006/main">
            <a:r>
              <a:t>Sources: README.md; duly/docs/evaluation-guide.md; duly/docs/stories/02-building-governance.md; duly/docs/stories/03-monthly-dues.md.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3acc43fe4c423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5d53902d704433" /><Relationship Type="http://schemas.openxmlformats.org/officeDocument/2006/relationships/slideLayout" Target="/ppt/slideLayouts/slideLayout1.xml" Id="R774150aa29cb4d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74150aa29cb4d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77e6d774734b01" /><Relationship Type="http://schemas.openxmlformats.org/officeDocument/2006/relationships/image" Target="/ppt/media/image.png" Id="R0414fb8e282849cd" /><Relationship Type="http://schemas.openxmlformats.org/officeDocument/2006/relationships/notesSlide" Target="/ppt/notesSlides/notesSlide1.xml" Id="Ra14a94de2ae74f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9a4cdd531a6476f" /><Relationship Type="http://schemas.openxmlformats.org/officeDocument/2006/relationships/notesSlide" Target="/ppt/notesSlides/notesSlide2.xml" Id="R318070bb3d0d4d6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8b19f96e43466e" /><Relationship Type="http://schemas.openxmlformats.org/officeDocument/2006/relationships/image" Target="/ppt/media/image2.png" Id="R1d9a57cdd6664eec" /><Relationship Type="http://schemas.openxmlformats.org/officeDocument/2006/relationships/notesSlide" Target="/ppt/notesSlides/notesSlide3.xml" Id="R84dc11fd6e6e480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083efe82424856" /><Relationship Type="http://schemas.openxmlformats.org/officeDocument/2006/relationships/notesSlide" Target="/ppt/notesSlides/notesSlide4.xml" Id="Re791f45e32144445" /></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552210c85c114b04"/><Relationship Type="http://schemas.openxmlformats.org/officeDocument/2006/relationships/image" Target="/ppt/media/image3.png" Id="R3a1369d495474bcb"/><Relationship Type="http://schemas.openxmlformats.org/officeDocument/2006/relationships/notesSlide" Target="/ppt/notesSlides/notesSlide5.xml" Id="Rf9d3dd740bb546f6"/><Relationship Id="rIdDulyVideo" Type="http://schemas.openxmlformats.org/officeDocument/2006/relationships/video" Target="../media/duly-product-demo.mp4"/><Relationship Id="rIdDulyMedia" Type="http://schemas.microsoft.com/office/2007/relationships/media" Target="../media/duly-product-demo.mp4"/></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466b65e2724973" /><Relationship Type="http://schemas.openxmlformats.org/officeDocument/2006/relationships/notesSlide" Target="/ppt/notesSlides/notesSlide6.xml" Id="R40603ff9fa474d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ad7d16f9224f04" /><Relationship Type="http://schemas.openxmlformats.org/officeDocument/2006/relationships/hyperlink" Target="https://duly-sepia.vercel.app/" TargetMode="External" Id="Rfaf8a633e540422d" /><Relationship Type="http://schemas.openxmlformats.org/officeDocument/2006/relationships/notesSlide" Target="/ppt/notesSlides/notesSlide7.xml" Id="R26ad24f89c2741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2e93d63ef14c4c" /><Relationship Type="http://schemas.openxmlformats.org/officeDocument/2006/relationships/notesSlide" Target="/ppt/notesSlides/notesSlide8.xml" Id="R120ce4dd03ef4d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268615061874909" /><Relationship Type="http://schemas.openxmlformats.org/officeDocument/2006/relationships/notesSlide" Target="/ppt/notesSlides/notesSlide9.xml" Id="R0beabf29ba30442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3647c73683d4de6" /><Relationship Type="http://schemas.openxmlformats.org/officeDocument/2006/relationships/notesSlide" Target="/ppt/notesSlides/notesSlide10.xml" Id="R3eeff78934da4c7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d00dbdcd56d4885" /><Relationship Type="http://schemas.openxmlformats.org/officeDocument/2006/relationships/hyperlink" Target="https://duly-sepia.vercel.app/" TargetMode="External" Id="Rc7f89f7970d14ebc" /><Relationship Type="http://schemas.openxmlformats.org/officeDocument/2006/relationships/hyperlink" Target="https://github.com/mryavascann/aidat" TargetMode="External" Id="R2991f8e484ee4c0b" /><Relationship Type="http://schemas.openxmlformats.org/officeDocument/2006/relationships/hyperlink" Target="https://github.com/mryavascann/aidat/blob/main/duly/deployments/building-testnet-v3.json" TargetMode="External" Id="R4fde0b446b6b4cd0" /><Relationship Type="http://schemas.openxmlformats.org/officeDocument/2006/relationships/hyperlink" Target="https://github.com/mryavascann/aidat/blob/main/duly/deployments/building-demo-ux-testnet-v3.json" TargetMode="External" Id="R80fd201f3c9241d5" /><Relationship Type="http://schemas.openxmlformats.org/officeDocument/2006/relationships/notesSlide" Target="/ppt/notesSlides/notesSlide11.xml" Id="Rf6c1f1cbe2514c3e" /></Relationships>
</file>

<file path=ppt/slides/slide1.xml><?xml version="1.0" encoding="utf-8"?>
<p:sld xmlns:p="http://schemas.openxmlformats.org/presentationml/2006/main">
  <p:cSld>
    <p:bg>
      <p:bgPr>
        <a:solidFill xmlns:a="http://schemas.openxmlformats.org/drawingml/2006/main">
          <a:srgbClr val="122B23"/>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0414fb8e282849cd"/>
          <a:srcRect xmlns:a="http://schemas.openxmlformats.org/drawingml/2006/main" l="17063" t="0" r="17063" b="0"/>
          <a:stretch xmlns:a="http://schemas.openxmlformats.org/drawingml/2006/main">
            <a:fillRect l="0" t="0" r="0" b="0"/>
          </a:stretch>
        </p:blipFill>
        <p:spPr>
          <a:xfrm xmlns:a="http://schemas.openxmlformats.org/drawingml/2006/main">
            <a:off x="4286250" y="0"/>
            <a:ext cx="7905750" cy="6858000"/>
          </a:xfrm>
          <a:prstGeom xmlns:a="http://schemas.openxmlformats.org/drawingml/2006/main" prst="rect">
            <a:avLst/>
          </a:prstGeom>
        </p:spPr>
      </p:pic>
      <p:sp>
        <p:nvSpPr>
          <p:cNvPr id="2" name="shape">
            <a:extLst xmlns:a="http://schemas.openxmlformats.org/drawingml/2006/main">
              <a:ext uri="{FF2B5EF4-FFF2-40B4-BE49-F238E27FC236}">
                <a16:creationId xmlns:a16="http://schemas.microsoft.com/office/drawing/2014/main" id="{EA220749-CB3D-48E0-ABBF-022B7D3E8C7A}"/>
              </a:ext>
            </a:extLst>
          </p:cNvPr>
          <p:cNvSpPr>
            <a:spLocks xmlns:a="http://schemas.openxmlformats.org/drawingml/2006/main" noGrp="1"/>
          </p:cNvSpPr>
          <p:nvPr/>
        </p:nvSpPr>
        <p:spPr>
          <a:xfrm xmlns:a="http://schemas.openxmlformats.org/drawingml/2006/main">
            <a:off x="0" y="0"/>
            <a:ext cx="7524750" cy="6858000"/>
          </a:xfrm>
          <a:prstGeom xmlns:a="http://schemas.openxmlformats.org/drawingml/2006/main" prst="rect">
            <a:avLst/>
          </a:prstGeom>
          <a:gradFill xmlns:a="http://schemas.openxmlformats.org/drawingml/2006/main">
            <a:gsLst>
              <a:gs pos="0">
                <a:srgbClr val="122B23"/>
              </a:gs>
              <a:gs pos="63000">
                <a:srgbClr val="122B23"/>
              </a:gs>
              <a:gs pos="100000">
                <a:srgbClr val="122B23">
                  <a:alpha val="0"/>
                </a:srgbClr>
              </a:gs>
            </a:gsLst>
            <a:lin ang="0"/>
          </a:gradFill>
          <a:ln xmlns:a="http://schemas.openxmlformats.org/drawingml/2006/main" w="0">
            <a:noFill/>
          </a:ln>
        </p:spPr>
      </p:sp>
      <p:sp>
        <p:nvSpPr>
          <p:cNvPr id="3" name="duly.">
            <a:extLst xmlns:a="http://schemas.openxmlformats.org/drawingml/2006/main">
              <a:ext uri="{FF2B5EF4-FFF2-40B4-BE49-F238E27FC236}">
                <a16:creationId xmlns:a16="http://schemas.microsoft.com/office/drawing/2014/main" id="{5524F0B0-D5B4-4FA3-8FF8-5012D30E07DE}"/>
              </a:ext>
            </a:extLst>
          </p:cNvPr>
          <p:cNvSpPr>
            <a:spLocks xmlns:a="http://schemas.openxmlformats.org/drawingml/2006/main" noGrp="1"/>
          </p:cNvSpPr>
          <p:nvPr/>
        </p:nvSpPr>
        <p:spPr>
          <a:xfrm xmlns:a="http://schemas.openxmlformats.org/drawingml/2006/main">
            <a:off x="609600" y="1276350"/>
            <a:ext cx="5238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9300" b="1">
                <a:solidFill>
                  <a:srgbClr val="FCFDFB"/>
                </a:solidFill>
                <a:latin typeface="Arial"/>
                <a:ea typeface="Arial"/>
                <a:cs typeface="Arial"/>
              </a:defRPr>
            </a:pPr>
            <a:r>
              <a:rPr sz="9300" b="1">
                <a:solidFill>
                  <a:srgbClr val="FCFDFB"/>
                </a:solidFill>
                <a:latin typeface="Arial"/>
                <a:ea typeface="Arial"/>
                <a:cs typeface="Arial"/>
              </a:rPr>
              <a:t>duly.</a:t>
            </a:r>
          </a:p>
        </p:txBody>
      </p:sp>
      <p:sp>
        <p:nvSpPr>
          <p:cNvPr id="4" name="A shared treasury&#10;for your building">
            <a:extLst xmlns:a="http://schemas.openxmlformats.org/drawingml/2006/main">
              <a:ext uri="{FF2B5EF4-FFF2-40B4-BE49-F238E27FC236}">
                <a16:creationId xmlns:a16="http://schemas.microsoft.com/office/drawing/2014/main" id="{0ACF15EC-71F1-4A7E-ABB1-FC80A37B3DAA}"/>
              </a:ext>
            </a:extLst>
          </p:cNvPr>
          <p:cNvSpPr>
            <a:spLocks xmlns:a="http://schemas.openxmlformats.org/drawingml/2006/main" noGrp="1"/>
          </p:cNvSpPr>
          <p:nvPr/>
        </p:nvSpPr>
        <p:spPr>
          <a:xfrm xmlns:a="http://schemas.openxmlformats.org/drawingml/2006/main">
            <a:off x="685800" y="3067050"/>
            <a:ext cx="5905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75" b="1">
                <a:solidFill>
                  <a:srgbClr val="FCFDFB"/>
                </a:solidFill>
                <a:latin typeface="Arial"/>
                <a:ea typeface="Arial"/>
                <a:cs typeface="Arial"/>
              </a:defRPr>
            </a:pPr>
            <a:r>
              <a:rPr sz="3975" b="1">
                <a:solidFill>
                  <a:srgbClr val="FCFDFB"/>
                </a:solidFill>
                <a:latin typeface="Arial"/>
                <a:ea typeface="Arial"/>
                <a:cs typeface="Arial"/>
              </a:rPr>
              <a:t>A shared treasury</a:t>
            </a:r>
          </a:p>
          <a:p xmlns:a="http://schemas.openxmlformats.org/drawingml/2006/main">
            <a:pPr algn="l">
              <a:buNone/>
              <a:defRPr sz="3975" b="1">
                <a:solidFill>
                  <a:srgbClr val="FCFDFB"/>
                </a:solidFill>
                <a:latin typeface="Arial"/>
                <a:ea typeface="Arial"/>
                <a:cs typeface="Arial"/>
              </a:defRPr>
            </a:pPr>
            <a:r>
              <a:rPr sz="3975" b="1">
                <a:solidFill>
                  <a:srgbClr val="FCFDFB"/>
                </a:solidFill>
                <a:latin typeface="Arial"/>
                <a:ea typeface="Arial"/>
                <a:cs typeface="Arial"/>
              </a:rPr>
              <a:t>for your building</a:t>
            </a:r>
          </a:p>
        </p:txBody>
      </p:sp>
      <p:sp>
        <p:nvSpPr>
          <p:cNvPr id="5" name="Spending rules residents can verify">
            <a:extLst xmlns:a="http://schemas.openxmlformats.org/drawingml/2006/main">
              <a:ext uri="{FF2B5EF4-FFF2-40B4-BE49-F238E27FC236}">
                <a16:creationId xmlns:a16="http://schemas.microsoft.com/office/drawing/2014/main" id="{74C09FD8-C3ED-4C3A-BFE8-AA48741B3F20}"/>
              </a:ext>
            </a:extLst>
          </p:cNvPr>
          <p:cNvSpPr>
            <a:spLocks xmlns:a="http://schemas.openxmlformats.org/drawingml/2006/main" noGrp="1"/>
          </p:cNvSpPr>
          <p:nvPr/>
        </p:nvSpPr>
        <p:spPr>
          <a:xfrm xmlns:a="http://schemas.openxmlformats.org/drawingml/2006/main">
            <a:off x="685800" y="4914900"/>
            <a:ext cx="5191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025" b="0">
                <a:solidFill>
                  <a:srgbClr val="C5E5CC"/>
                </a:solidFill>
                <a:latin typeface="Arial"/>
                <a:ea typeface="Arial"/>
                <a:cs typeface="Arial"/>
              </a:defRPr>
            </a:pPr>
            <a:r>
              <a:rPr sz="2025" b="0">
                <a:solidFill>
                  <a:srgbClr val="C5E5CC"/>
                </a:solidFill>
                <a:latin typeface="Arial"/>
                <a:ea typeface="Arial"/>
                <a:cs typeface="Arial"/>
              </a:rPr>
              <a:t>Spending rules residents can verify</a:t>
            </a:r>
          </a:p>
        </p:txBody>
      </p:sp>
      <p:sp>
        <p:nvSpPr>
          <p:cNvPr id="6" name="STELLAR PRO HACKATHON 2026">
            <a:extLst xmlns:a="http://schemas.openxmlformats.org/drawingml/2006/main">
              <a:ext uri="{FF2B5EF4-FFF2-40B4-BE49-F238E27FC236}">
                <a16:creationId xmlns:a16="http://schemas.microsoft.com/office/drawing/2014/main" id="{00CDBB2E-7010-403A-9DA9-0372593C5F9F}"/>
              </a:ext>
            </a:extLst>
          </p:cNvPr>
          <p:cNvSpPr>
            <a:spLocks xmlns:a="http://schemas.openxmlformats.org/drawingml/2006/main" noGrp="1"/>
          </p:cNvSpPr>
          <p:nvPr/>
        </p:nvSpPr>
        <p:spPr>
          <a:xfrm xmlns:a="http://schemas.openxmlformats.org/drawingml/2006/main">
            <a:off x="685800" y="542925"/>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C5E5CC"/>
                </a:solidFill>
                <a:latin typeface="Arial"/>
                <a:ea typeface="Arial"/>
                <a:cs typeface="Arial"/>
              </a:defRPr>
            </a:pPr>
            <a:r>
              <a:rPr sz="1275" b="1">
                <a:solidFill>
                  <a:srgbClr val="C5E5CC"/>
                </a:solidFill>
                <a:latin typeface="Arial"/>
                <a:ea typeface="Arial"/>
                <a:cs typeface="Arial"/>
              </a:rPr>
              <a:t>STELLAR PRO HACKATHON 2026</a:t>
            </a:r>
          </a:p>
        </p:txBody>
      </p:sp>
      <p:sp>
        <p:nvSpPr>
          <p:cNvPr id="7" name="Istanbul, September 19–20">
            <a:extLst xmlns:a="http://schemas.openxmlformats.org/drawingml/2006/main">
              <a:ext uri="{FF2B5EF4-FFF2-40B4-BE49-F238E27FC236}">
                <a16:creationId xmlns:a16="http://schemas.microsoft.com/office/drawing/2014/main" id="{B42E632D-92E5-4D7A-AEE5-39AC7CB14332}"/>
              </a:ext>
            </a:extLst>
          </p:cNvPr>
          <p:cNvSpPr>
            <a:spLocks xmlns:a="http://schemas.openxmlformats.org/drawingml/2006/main" noGrp="1"/>
          </p:cNvSpPr>
          <p:nvPr/>
        </p:nvSpPr>
        <p:spPr>
          <a:xfrm xmlns:a="http://schemas.openxmlformats.org/drawingml/2006/main">
            <a:off x="685800" y="6334125"/>
            <a:ext cx="533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C5E5CC"/>
                </a:solidFill>
                <a:latin typeface="Arial"/>
                <a:ea typeface="Arial"/>
                <a:cs typeface="Arial"/>
              </a:defRPr>
            </a:pPr>
            <a:r>
              <a:rPr sz="1350" b="0">
                <a:solidFill>
                  <a:srgbClr val="C5E5CC"/>
                </a:solidFill>
                <a:latin typeface="Arial"/>
                <a:ea typeface="Arial"/>
                <a:cs typeface="Arial"/>
              </a:rPr>
              <a:t>Istanbul, September 19–20</a:t>
            </a:r>
          </a:p>
        </p:txBody>
      </p:sp>
    </p:spTree>
    <p:extLst>
      <p:ext uri="{BB962C8B-B14F-4D97-AF65-F5344CB8AC3E}">
        <p14:creationId xmlns:p14="http://schemas.microsoft.com/office/powerpoint/2010/main" val="1936532440"/>
      </p:ext>
    </p:extLst>
  </p:cSld>
</p:sld>
</file>

<file path=ppt/slides/slide2.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7" name="THE PROBLEM">
            <a:extLst xmlns:a="http://schemas.openxmlformats.org/drawingml/2006/main">
              <a:ext uri="{FF2B5EF4-FFF2-40B4-BE49-F238E27FC236}">
                <a16:creationId xmlns:a16="http://schemas.microsoft.com/office/drawing/2014/main" id="{F4F34012-FA0B-4E42-BE60-04C4FFC45EB9}"/>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6B58"/>
                </a:solidFill>
                <a:latin typeface="Arial"/>
                <a:ea typeface="Arial"/>
                <a:cs typeface="Arial"/>
              </a:defRPr>
            </a:pPr>
            <a:r>
              <a:rPr sz="1275" b="1">
                <a:solidFill>
                  <a:srgbClr val="176B58"/>
                </a:solidFill>
                <a:latin typeface="Arial"/>
                <a:ea typeface="Arial"/>
                <a:cs typeface="Arial"/>
              </a:rPr>
              <a:t>THE PROBLEM</a:t>
            </a:r>
          </a:p>
        </p:txBody>
      </p:sp>
      <p:sp>
        <p:nvSpPr>
          <p:cNvPr id="2" name="duly">
            <a:extLst xmlns:a="http://schemas.openxmlformats.org/drawingml/2006/main">
              <a:ext uri="{FF2B5EF4-FFF2-40B4-BE49-F238E27FC236}">
                <a16:creationId xmlns:a16="http://schemas.microsoft.com/office/drawing/2014/main" id="{8305C207-26DF-4820-B53D-736052A79073}"/>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176B58"/>
                </a:solidFill>
                <a:latin typeface="Arial"/>
                <a:ea typeface="Arial"/>
                <a:cs typeface="Arial"/>
              </a:defRPr>
            </a:pPr>
            <a:r>
              <a:rPr sz="1500" b="1">
                <a:solidFill>
                  <a:srgbClr val="176B58"/>
                </a:solidFill>
                <a:latin typeface="Arial"/>
                <a:ea typeface="Arial"/>
                <a:cs typeface="Arial"/>
              </a:rPr>
              <a:t>duly</a:t>
            </a:r>
          </a:p>
        </p:txBody>
      </p:sp>
      <p:sp>
        <p:nvSpPr>
          <p:cNvPr id="3" name="page-number">
            <a:extLst xmlns:a="http://schemas.openxmlformats.org/drawingml/2006/main">
              <a:ext uri="{FF2B5EF4-FFF2-40B4-BE49-F238E27FC236}">
                <a16:creationId xmlns:a16="http://schemas.microsoft.com/office/drawing/2014/main" id="{71ED5F8E-4648-442E-899D-185B8B7F8B1B}"/>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6B60"/>
                </a:solidFill>
                <a:latin typeface="Arial"/>
                <a:ea typeface="Arial"/>
                <a:cs typeface="Arial"/>
              </a:defRPr>
            </a:pPr>
            <a:r>
              <a:rPr sz="1275" b="0">
                <a:solidFill>
                  <a:srgbClr val="566B60"/>
                </a:solidFill>
                <a:latin typeface="Arial"/>
                <a:ea typeface="Arial"/>
                <a:cs typeface="Arial"/>
              </a:rPr>
              <a:t>02</a:t>
            </a:r>
          </a:p>
        </p:txBody>
      </p:sp>
      <p:sp>
        <p:nvSpPr>
          <p:cNvPr id="4" name="problem-title">
            <a:extLst xmlns:a="http://schemas.openxmlformats.org/drawingml/2006/main">
              <a:ext uri="{FF2B5EF4-FFF2-40B4-BE49-F238E27FC236}">
                <a16:creationId xmlns:a16="http://schemas.microsoft.com/office/drawing/2014/main" id="{6286C9B2-FC78-4CC2-AF54-320F98D454FE}"/>
              </a:ext>
            </a:extLst>
          </p:cNvPr>
          <p:cNvSpPr>
            <a:spLocks xmlns:a="http://schemas.openxmlformats.org/drawingml/2006/main" noGrp="1"/>
          </p:cNvSpPr>
          <p:nvPr/>
        </p:nvSpPr>
        <p:spPr>
          <a:xfrm xmlns:a="http://schemas.openxmlformats.org/drawingml/2006/main">
            <a:off x="609600" y="952500"/>
            <a:ext cx="10668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9392F"/>
                </a:solidFill>
                <a:latin typeface="Arial"/>
                <a:ea typeface="Arial"/>
                <a:cs typeface="Arial"/>
              </a:defRPr>
            </a:pPr>
            <a:r>
              <a:rPr sz="4125" b="1">
                <a:solidFill>
                  <a:srgbClr val="19392F"/>
                </a:solidFill>
                <a:latin typeface="Arial"/>
                <a:ea typeface="Arial"/>
                <a:cs typeface="Arial"/>
              </a:rPr>
              <a:t>Shared money is hard</a:t>
            </a:r>
          </a:p>
          <a:p xmlns:a="http://schemas.openxmlformats.org/drawingml/2006/main">
            <a:pPr algn="l">
              <a:defRPr sz="4125" b="1">
                <a:solidFill>
                  <a:srgbClr val="19392F"/>
                </a:solidFill>
                <a:latin typeface="Arial"/>
                <a:ea typeface="Arial"/>
                <a:cs typeface="Arial"/>
              </a:defRPr>
            </a:pPr>
            <a:r>
              <a:rPr sz="4125" b="1">
                <a:solidFill>
                  <a:srgbClr val="19392F"/>
                </a:solidFill>
                <a:latin typeface="Arial"/>
                <a:ea typeface="Arial"/>
                <a:cs typeface="Arial"/>
              </a:rPr>
              <a:t>to track and control</a:t>
            </a:r>
          </a:p>
        </p:txBody>
      </p:sp>
      <p:sp>
        <p:nvSpPr>
          <p:cNvPr id="5" name="Example: an elevator repair paid from residents’ dues.">
            <a:extLst xmlns:a="http://schemas.openxmlformats.org/drawingml/2006/main">
              <a:ext uri="{FF2B5EF4-FFF2-40B4-BE49-F238E27FC236}">
                <a16:creationId xmlns:a16="http://schemas.microsoft.com/office/drawing/2014/main" id="{EDAFCBB1-87C6-4147-83FA-D59A3993F539}"/>
              </a:ext>
            </a:extLst>
          </p:cNvPr>
          <p:cNvSpPr>
            <a:spLocks xmlns:a="http://schemas.openxmlformats.org/drawingml/2006/main" noGrp="1"/>
          </p:cNvSpPr>
          <p:nvPr/>
        </p:nvSpPr>
        <p:spPr>
          <a:xfrm xmlns:a="http://schemas.openxmlformats.org/drawingml/2006/main">
            <a:off x="609600" y="2409825"/>
            <a:ext cx="109347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6B58"/>
                </a:solidFill>
                <a:latin typeface="Arial"/>
                <a:ea typeface="Arial"/>
                <a:cs typeface="Arial"/>
              </a:defRPr>
            </a:pPr>
            <a:r>
              <a:rPr sz="1950" b="0">
                <a:solidFill>
                  <a:srgbClr val="176B58"/>
                </a:solidFill>
                <a:latin typeface="Arial"/>
                <a:ea typeface="Arial"/>
                <a:cs typeface="Arial"/>
              </a:rPr>
              <a:t>Example: an elevator repair paid from residents’ dues.</a:t>
            </a:r>
          </a:p>
        </p:txBody>
      </p:sp>
      <p:sp>
        <p:nvSpPr>
          <p:cNvPr id="6" name="problem-divider">
            <a:extLst xmlns:a="http://schemas.openxmlformats.org/drawingml/2006/main">
              <a:ext uri="{FF2B5EF4-FFF2-40B4-BE49-F238E27FC236}">
                <a16:creationId xmlns:a16="http://schemas.microsoft.com/office/drawing/2014/main" id="{E71929A8-9203-4F6F-9100-E7C84555EF2D}"/>
              </a:ext>
            </a:extLst>
          </p:cNvPr>
          <p:cNvSpPr>
            <a:spLocks xmlns:a="http://schemas.openxmlformats.org/drawingml/2006/main" noGrp="1"/>
          </p:cNvSpPr>
          <p:nvPr/>
        </p:nvSpPr>
        <p:spPr>
          <a:xfrm xmlns:a="http://schemas.openxmlformats.org/drawingml/2006/main">
            <a:off x="609600" y="3105150"/>
            <a:ext cx="1097280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7" name="BALANCE">
            <a:extLst xmlns:a="http://schemas.openxmlformats.org/drawingml/2006/main">
              <a:ext uri="{FF2B5EF4-FFF2-40B4-BE49-F238E27FC236}">
                <a16:creationId xmlns:a16="http://schemas.microsoft.com/office/drawing/2014/main" id="{03CD1820-C2C3-416E-8C25-963B780B08F9}"/>
              </a:ext>
            </a:extLst>
          </p:cNvPr>
          <p:cNvSpPr>
            <a:spLocks xmlns:a="http://schemas.openxmlformats.org/drawingml/2006/main" noGrp="1"/>
          </p:cNvSpPr>
          <p:nvPr/>
        </p:nvSpPr>
        <p:spPr>
          <a:xfrm xmlns:a="http://schemas.openxmlformats.org/drawingml/2006/main">
            <a:off x="609600" y="334327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BALANCE</a:t>
            </a:r>
          </a:p>
        </p:txBody>
      </p:sp>
      <p:sp>
        <p:nvSpPr>
          <p:cNvPr id="8" name="How much is left?">
            <a:extLst xmlns:a="http://schemas.openxmlformats.org/drawingml/2006/main">
              <a:ext uri="{FF2B5EF4-FFF2-40B4-BE49-F238E27FC236}">
                <a16:creationId xmlns:a16="http://schemas.microsoft.com/office/drawing/2014/main" id="{1AB8BD4F-7756-4356-B75B-5FE9976987EE}"/>
              </a:ext>
            </a:extLst>
          </p:cNvPr>
          <p:cNvSpPr>
            <a:spLocks xmlns:a="http://schemas.openxmlformats.org/drawingml/2006/main" noGrp="1"/>
          </p:cNvSpPr>
          <p:nvPr/>
        </p:nvSpPr>
        <p:spPr>
          <a:xfrm xmlns:a="http://schemas.openxmlformats.org/drawingml/2006/main">
            <a:off x="609600" y="3800475"/>
            <a:ext cx="347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92F"/>
                </a:solidFill>
                <a:latin typeface="Arial"/>
                <a:ea typeface="Arial"/>
                <a:cs typeface="Arial"/>
              </a:defRPr>
            </a:pPr>
            <a:r>
              <a:rPr sz="2250" b="1">
                <a:solidFill>
                  <a:srgbClr val="19392F"/>
                </a:solidFill>
                <a:latin typeface="Arial"/>
                <a:ea typeface="Arial"/>
                <a:cs typeface="Arial"/>
              </a:rPr>
              <a:t>How much is left?</a:t>
            </a:r>
          </a:p>
        </p:txBody>
      </p:sp>
      <p:sp>
        <p:nvSpPr>
          <p:cNvPr id="9" name="Residents depend on&#10;the manager’s records.">
            <a:extLst xmlns:a="http://schemas.openxmlformats.org/drawingml/2006/main">
              <a:ext uri="{FF2B5EF4-FFF2-40B4-BE49-F238E27FC236}">
                <a16:creationId xmlns:a16="http://schemas.microsoft.com/office/drawing/2014/main" id="{6BAF78EB-0404-46F2-8C3D-057F1FBFA1E3}"/>
              </a:ext>
            </a:extLst>
          </p:cNvPr>
          <p:cNvSpPr>
            <a:spLocks xmlns:a="http://schemas.openxmlformats.org/drawingml/2006/main" noGrp="1"/>
          </p:cNvSpPr>
          <p:nvPr/>
        </p:nvSpPr>
        <p:spPr>
          <a:xfrm xmlns:a="http://schemas.openxmlformats.org/drawingml/2006/main">
            <a:off x="609600" y="4391025"/>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66B60"/>
                </a:solidFill>
                <a:latin typeface="Arial"/>
                <a:ea typeface="Arial"/>
                <a:cs typeface="Arial"/>
              </a:defRPr>
            </a:pPr>
            <a:r>
              <a:rPr sz="1800" b="0">
                <a:solidFill>
                  <a:srgbClr val="566B60"/>
                </a:solidFill>
                <a:latin typeface="Arial"/>
                <a:ea typeface="Arial"/>
                <a:cs typeface="Arial"/>
              </a:rPr>
              <a:t>Residents depend on</a:t>
            </a:r>
          </a:p>
          <a:p xmlns:a="http://schemas.openxmlformats.org/drawingml/2006/main">
            <a:pPr algn="l">
              <a:defRPr sz="1800" b="0">
                <a:solidFill>
                  <a:srgbClr val="566B60"/>
                </a:solidFill>
                <a:latin typeface="Arial"/>
                <a:ea typeface="Arial"/>
                <a:cs typeface="Arial"/>
              </a:defRPr>
            </a:pPr>
            <a:r>
              <a:rPr sz="1800" b="0">
                <a:solidFill>
                  <a:srgbClr val="566B60"/>
                </a:solidFill>
                <a:latin typeface="Arial"/>
                <a:ea typeface="Arial"/>
                <a:cs typeface="Arial"/>
              </a:rPr>
              <a:t>the manager’s records.</a:t>
            </a:r>
          </a:p>
        </p:txBody>
      </p:sp>
      <p:sp>
        <p:nvSpPr>
          <p:cNvPr id="10" name="DECISION">
            <a:extLst xmlns:a="http://schemas.openxmlformats.org/drawingml/2006/main">
              <a:ext uri="{FF2B5EF4-FFF2-40B4-BE49-F238E27FC236}">
                <a16:creationId xmlns:a16="http://schemas.microsoft.com/office/drawing/2014/main" id="{2EC0B16D-13CC-41CC-93EA-5ACB002C8CBB}"/>
              </a:ext>
            </a:extLst>
          </p:cNvPr>
          <p:cNvSpPr>
            <a:spLocks xmlns:a="http://schemas.openxmlformats.org/drawingml/2006/main" noGrp="1"/>
          </p:cNvSpPr>
          <p:nvPr/>
        </p:nvSpPr>
        <p:spPr>
          <a:xfrm xmlns:a="http://schemas.openxmlformats.org/drawingml/2006/main">
            <a:off x="4324350" y="334327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DECISION</a:t>
            </a:r>
          </a:p>
        </p:txBody>
      </p:sp>
      <p:sp>
        <p:nvSpPr>
          <p:cNvPr id="11" name="Who approved it?">
            <a:extLst xmlns:a="http://schemas.openxmlformats.org/drawingml/2006/main">
              <a:ext uri="{FF2B5EF4-FFF2-40B4-BE49-F238E27FC236}">
                <a16:creationId xmlns:a16="http://schemas.microsoft.com/office/drawing/2014/main" id="{EDBD2288-272B-47EF-BCCC-F6B08A8126EB}"/>
              </a:ext>
            </a:extLst>
          </p:cNvPr>
          <p:cNvSpPr>
            <a:spLocks xmlns:a="http://schemas.openxmlformats.org/drawingml/2006/main" noGrp="1"/>
          </p:cNvSpPr>
          <p:nvPr/>
        </p:nvSpPr>
        <p:spPr>
          <a:xfrm xmlns:a="http://schemas.openxmlformats.org/drawingml/2006/main">
            <a:off x="4324350" y="3800475"/>
            <a:ext cx="347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92F"/>
                </a:solidFill>
                <a:latin typeface="Arial"/>
                <a:ea typeface="Arial"/>
                <a:cs typeface="Arial"/>
              </a:defRPr>
            </a:pPr>
            <a:r>
              <a:rPr sz="2250" b="1">
                <a:solidFill>
                  <a:srgbClr val="19392F"/>
                </a:solidFill>
                <a:latin typeface="Arial"/>
                <a:ea typeface="Arial"/>
                <a:cs typeface="Arial"/>
              </a:rPr>
              <a:t>Who approved it?</a:t>
            </a:r>
          </a:p>
        </p:txBody>
      </p:sp>
      <p:sp>
        <p:nvSpPr>
          <p:cNvPr id="12" name="Residents may hear about&#10;an expense after payment.">
            <a:extLst xmlns:a="http://schemas.openxmlformats.org/drawingml/2006/main">
              <a:ext uri="{FF2B5EF4-FFF2-40B4-BE49-F238E27FC236}">
                <a16:creationId xmlns:a16="http://schemas.microsoft.com/office/drawing/2014/main" id="{DF51FFB7-8515-4341-9C71-C27CA49E6E72}"/>
              </a:ext>
            </a:extLst>
          </p:cNvPr>
          <p:cNvSpPr>
            <a:spLocks xmlns:a="http://schemas.openxmlformats.org/drawingml/2006/main" noGrp="1"/>
          </p:cNvSpPr>
          <p:nvPr/>
        </p:nvSpPr>
        <p:spPr>
          <a:xfrm xmlns:a="http://schemas.openxmlformats.org/drawingml/2006/main">
            <a:off x="4324350" y="4391025"/>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66B60"/>
                </a:solidFill>
                <a:latin typeface="Arial"/>
                <a:ea typeface="Arial"/>
                <a:cs typeface="Arial"/>
              </a:defRPr>
            </a:pPr>
            <a:r>
              <a:rPr sz="1800" b="0">
                <a:solidFill>
                  <a:srgbClr val="566B60"/>
                </a:solidFill>
                <a:latin typeface="Arial"/>
                <a:ea typeface="Arial"/>
                <a:cs typeface="Arial"/>
              </a:rPr>
              <a:t>Residents may hear about</a:t>
            </a:r>
          </a:p>
          <a:p xmlns:a="http://schemas.openxmlformats.org/drawingml/2006/main">
            <a:pPr algn="l">
              <a:defRPr sz="1800" b="0">
                <a:solidFill>
                  <a:srgbClr val="566B60"/>
                </a:solidFill>
                <a:latin typeface="Arial"/>
                <a:ea typeface="Arial"/>
                <a:cs typeface="Arial"/>
              </a:defRPr>
            </a:pPr>
            <a:r>
              <a:rPr sz="1800" b="0">
                <a:solidFill>
                  <a:srgbClr val="566B60"/>
                </a:solidFill>
                <a:latin typeface="Arial"/>
                <a:ea typeface="Arial"/>
                <a:cs typeface="Arial"/>
              </a:rPr>
              <a:t>an expense after payment.</a:t>
            </a:r>
          </a:p>
        </p:txBody>
      </p:sp>
      <p:sp>
        <p:nvSpPr>
          <p:cNvPr id="13" name="PAYMENT">
            <a:extLst xmlns:a="http://schemas.openxmlformats.org/drawingml/2006/main">
              <a:ext uri="{FF2B5EF4-FFF2-40B4-BE49-F238E27FC236}">
                <a16:creationId xmlns:a16="http://schemas.microsoft.com/office/drawing/2014/main" id="{5ED9CC09-573F-4A48-A18C-A0F1B2F19AF8}"/>
              </a:ext>
            </a:extLst>
          </p:cNvPr>
          <p:cNvSpPr>
            <a:spLocks xmlns:a="http://schemas.openxmlformats.org/drawingml/2006/main" noGrp="1"/>
          </p:cNvSpPr>
          <p:nvPr/>
        </p:nvSpPr>
        <p:spPr>
          <a:xfrm xmlns:a="http://schemas.openxmlformats.org/drawingml/2006/main">
            <a:off x="8039100" y="3343275"/>
            <a:ext cx="33051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PAYMENT</a:t>
            </a:r>
          </a:p>
        </p:txBody>
      </p:sp>
      <p:sp>
        <p:nvSpPr>
          <p:cNvPr id="14" name="Where did it go?">
            <a:extLst xmlns:a="http://schemas.openxmlformats.org/drawingml/2006/main">
              <a:ext uri="{FF2B5EF4-FFF2-40B4-BE49-F238E27FC236}">
                <a16:creationId xmlns:a16="http://schemas.microsoft.com/office/drawing/2014/main" id="{A0DE9282-0B8F-4D93-BE5C-C522E2D18751}"/>
              </a:ext>
            </a:extLst>
          </p:cNvPr>
          <p:cNvSpPr>
            <a:spLocks xmlns:a="http://schemas.openxmlformats.org/drawingml/2006/main" noGrp="1"/>
          </p:cNvSpPr>
          <p:nvPr/>
        </p:nvSpPr>
        <p:spPr>
          <a:xfrm xmlns:a="http://schemas.openxmlformats.org/drawingml/2006/main">
            <a:off x="8039100" y="3800475"/>
            <a:ext cx="347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9392F"/>
                </a:solidFill>
                <a:latin typeface="Arial"/>
                <a:ea typeface="Arial"/>
                <a:cs typeface="Arial"/>
              </a:defRPr>
            </a:pPr>
            <a:r>
              <a:rPr sz="2250" b="1">
                <a:solidFill>
                  <a:srgbClr val="19392F"/>
                </a:solidFill>
                <a:latin typeface="Arial"/>
                <a:ea typeface="Arial"/>
                <a:cs typeface="Arial"/>
              </a:rPr>
              <a:t>Where did it go?</a:t>
            </a:r>
          </a:p>
        </p:txBody>
      </p:sp>
      <p:sp>
        <p:nvSpPr>
          <p:cNvPr id="15" name="The building needs a payment&#10;trail everyone can see.">
            <a:extLst xmlns:a="http://schemas.openxmlformats.org/drawingml/2006/main">
              <a:ext uri="{FF2B5EF4-FFF2-40B4-BE49-F238E27FC236}">
                <a16:creationId xmlns:a16="http://schemas.microsoft.com/office/drawing/2014/main" id="{3101136A-6CE2-464B-BFB2-95D97C5D0B35}"/>
              </a:ext>
            </a:extLst>
          </p:cNvPr>
          <p:cNvSpPr>
            <a:spLocks xmlns:a="http://schemas.openxmlformats.org/drawingml/2006/main" noGrp="1"/>
          </p:cNvSpPr>
          <p:nvPr/>
        </p:nvSpPr>
        <p:spPr>
          <a:xfrm xmlns:a="http://schemas.openxmlformats.org/drawingml/2006/main">
            <a:off x="8039100" y="4391025"/>
            <a:ext cx="3476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66B60"/>
                </a:solidFill>
                <a:latin typeface="Arial"/>
                <a:ea typeface="Arial"/>
                <a:cs typeface="Arial"/>
              </a:defRPr>
            </a:pPr>
            <a:r>
              <a:rPr sz="1800" b="0">
                <a:solidFill>
                  <a:srgbClr val="566B60"/>
                </a:solidFill>
                <a:latin typeface="Arial"/>
                <a:ea typeface="Arial"/>
                <a:cs typeface="Arial"/>
              </a:rPr>
              <a:t>The building needs a payment</a:t>
            </a:r>
          </a:p>
          <a:p xmlns:a="http://schemas.openxmlformats.org/drawingml/2006/main">
            <a:pPr algn="l">
              <a:defRPr sz="1800" b="0">
                <a:solidFill>
                  <a:srgbClr val="566B60"/>
                </a:solidFill>
                <a:latin typeface="Arial"/>
                <a:ea typeface="Arial"/>
                <a:cs typeface="Arial"/>
              </a:defRPr>
            </a:pPr>
            <a:r>
              <a:rPr sz="1800" b="0">
                <a:solidFill>
                  <a:srgbClr val="566B60"/>
                </a:solidFill>
                <a:latin typeface="Arial"/>
                <a:ea typeface="Arial"/>
                <a:cs typeface="Arial"/>
              </a:rPr>
              <a:t>trail everyone can see.</a:t>
            </a:r>
          </a:p>
        </p:txBody>
      </p:sp>
      <p:sp>
        <p:nvSpPr>
          <p:cNvPr id="16" name="Residents need a shared record and a say&#10;before the money leaves.">
            <a:extLst xmlns:a="http://schemas.openxmlformats.org/drawingml/2006/main">
              <a:ext uri="{FF2B5EF4-FFF2-40B4-BE49-F238E27FC236}">
                <a16:creationId xmlns:a16="http://schemas.microsoft.com/office/drawing/2014/main" id="{969E6F63-886A-426E-AB65-F2FBD573BD98}"/>
              </a:ext>
            </a:extLst>
          </p:cNvPr>
          <p:cNvSpPr>
            <a:spLocks xmlns:a="http://schemas.openxmlformats.org/drawingml/2006/main" noGrp="1"/>
          </p:cNvSpPr>
          <p:nvPr/>
        </p:nvSpPr>
        <p:spPr>
          <a:xfrm xmlns:a="http://schemas.openxmlformats.org/drawingml/2006/main">
            <a:off x="609600" y="5581650"/>
            <a:ext cx="108299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6B58"/>
                </a:solidFill>
                <a:latin typeface="Arial"/>
                <a:ea typeface="Arial"/>
                <a:cs typeface="Arial"/>
              </a:defRPr>
            </a:pPr>
            <a:r>
              <a:rPr sz="2175" b="1">
                <a:solidFill>
                  <a:srgbClr val="176B58"/>
                </a:solidFill>
                <a:latin typeface="Arial"/>
                <a:ea typeface="Arial"/>
                <a:cs typeface="Arial"/>
              </a:rPr>
              <a:t>Residents need a shared record and a say</a:t>
            </a:r>
          </a:p>
          <a:p xmlns:a="http://schemas.openxmlformats.org/drawingml/2006/main">
            <a:pPr algn="l">
              <a:defRPr sz="2175" b="1">
                <a:solidFill>
                  <a:srgbClr val="176B58"/>
                </a:solidFill>
                <a:latin typeface="Arial"/>
                <a:ea typeface="Arial"/>
                <a:cs typeface="Arial"/>
              </a:defRPr>
            </a:pPr>
            <a:r>
              <a:rPr sz="2175" b="1">
                <a:solidFill>
                  <a:srgbClr val="176B58"/>
                </a:solidFill>
                <a:latin typeface="Arial"/>
                <a:ea typeface="Arial"/>
                <a:cs typeface="Arial"/>
              </a:rPr>
              <a:t>before the money leaves.</a:t>
            </a:r>
          </a:p>
        </p:txBody>
      </p:sp>
    </p:spTree>
    <p:extLst>
      <p:ext uri="{BB962C8B-B14F-4D97-AF65-F5344CB8AC3E}">
        <p14:creationId xmlns:p14="http://schemas.microsoft.com/office/powerpoint/2010/main" val="1872015669"/>
      </p:ext>
    </p:extLst>
  </p:cSld>
</p:sld>
</file>

<file path=ppt/slides/slide3.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8" name="THE SOLUTION">
            <a:extLst xmlns:a="http://schemas.openxmlformats.org/drawingml/2006/main">
              <a:ext uri="{FF2B5EF4-FFF2-40B4-BE49-F238E27FC236}">
                <a16:creationId xmlns:a16="http://schemas.microsoft.com/office/drawing/2014/main" id="{E048AA6B-4FD0-493B-9F96-F57FC39C478B}"/>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176B58"/>
                </a:solidFill>
                <a:latin typeface="Arial"/>
                <a:ea typeface="Arial"/>
                <a:cs typeface="Arial"/>
              </a:defRPr>
            </a:pPr>
            <a:r>
              <a:rPr sz="1275" b="1">
                <a:solidFill>
                  <a:srgbClr val="176B58"/>
                </a:solidFill>
                <a:latin typeface="Arial"/>
                <a:ea typeface="Arial"/>
                <a:cs typeface="Arial"/>
              </a:rPr>
              <a:t>THE SOLUTION</a:t>
            </a:r>
          </a:p>
        </p:txBody>
      </p:sp>
      <p:sp>
        <p:nvSpPr>
          <p:cNvPr id="2" name="duly">
            <a:extLst xmlns:a="http://schemas.openxmlformats.org/drawingml/2006/main">
              <a:ext uri="{FF2B5EF4-FFF2-40B4-BE49-F238E27FC236}">
                <a16:creationId xmlns:a16="http://schemas.microsoft.com/office/drawing/2014/main" id="{08E378AC-3A35-44EF-BE86-6C77E1FFCA3F}"/>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76B58"/>
                </a:solidFill>
                <a:latin typeface="Arial"/>
                <a:ea typeface="Arial"/>
                <a:cs typeface="Arial"/>
              </a:defRPr>
            </a:pPr>
            <a:r>
              <a:rPr sz="1500" b="1">
                <a:solidFill>
                  <a:srgbClr val="176B58"/>
                </a:solidFill>
                <a:latin typeface="Arial"/>
                <a:ea typeface="Arial"/>
                <a:cs typeface="Arial"/>
              </a:rPr>
              <a:t>duly</a:t>
            </a:r>
          </a:p>
        </p:txBody>
      </p:sp>
      <p:sp>
        <p:nvSpPr>
          <p:cNvPr id="3" name="02">
            <a:extLst xmlns:a="http://schemas.openxmlformats.org/drawingml/2006/main">
              <a:ext uri="{FF2B5EF4-FFF2-40B4-BE49-F238E27FC236}">
                <a16:creationId xmlns:a16="http://schemas.microsoft.com/office/drawing/2014/main" id="{40A9B101-6D35-42F1-BA70-89E33390E92A}"/>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B60"/>
                </a:solidFill>
                <a:latin typeface="Arial"/>
                <a:ea typeface="Arial"/>
                <a:cs typeface="Arial"/>
              </a:defRPr>
            </a:pPr>
            <a:r>
              <a:rPr sz="1275" b="0">
                <a:solidFill>
                  <a:srgbClr val="566B60"/>
                </a:solidFill>
                <a:latin typeface="Arial"/>
                <a:ea typeface="Arial"/>
                <a:cs typeface="Arial"/>
              </a:rPr>
              <a:t>03</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d9a57cdd6664eec"/>
          <a:srcRect xmlns:a="http://schemas.openxmlformats.org/drawingml/2006/main" l="0" t="3566" r="0" b="3566"/>
          <a:stretch xmlns:a="http://schemas.openxmlformats.org/drawingml/2006/main">
            <a:fillRect l="0" t="0" r="0" b="0"/>
          </a:stretch>
        </p:blipFill>
        <p:spPr>
          <a:xfrm xmlns:a="http://schemas.openxmlformats.org/drawingml/2006/main">
            <a:off x="7086600" y="0"/>
            <a:ext cx="5105400" cy="6096000"/>
          </a:xfrm>
          <a:prstGeom xmlns:a="http://schemas.openxmlformats.org/drawingml/2006/main" prst="rect">
            <a:avLst/>
          </a:prstGeom>
        </p:spPr>
      </p:pic>
      <p:sp>
        <p:nvSpPr>
          <p:cNvPr id="5" name="The building can see&#10;and govern its money">
            <a:extLst xmlns:a="http://schemas.openxmlformats.org/drawingml/2006/main">
              <a:ext uri="{FF2B5EF4-FFF2-40B4-BE49-F238E27FC236}">
                <a16:creationId xmlns:a16="http://schemas.microsoft.com/office/drawing/2014/main" id="{F1FEC4EB-0C90-4617-A266-AE3CA1B3639A}"/>
              </a:ext>
            </a:extLst>
          </p:cNvPr>
          <p:cNvSpPr>
            <a:spLocks xmlns:a="http://schemas.openxmlformats.org/drawingml/2006/main" noGrp="1"/>
          </p:cNvSpPr>
          <p:nvPr/>
        </p:nvSpPr>
        <p:spPr>
          <a:xfrm xmlns:a="http://schemas.openxmlformats.org/drawingml/2006/main">
            <a:off x="609600" y="952500"/>
            <a:ext cx="676275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00" b="1">
                <a:solidFill>
                  <a:srgbClr val="19392F"/>
                </a:solidFill>
                <a:latin typeface="Arial"/>
                <a:ea typeface="Arial"/>
                <a:cs typeface="Arial"/>
              </a:defRPr>
            </a:pPr>
            <a:r>
              <a:rPr sz="3900" b="1">
                <a:solidFill>
                  <a:srgbClr val="19392F"/>
                </a:solidFill>
                <a:latin typeface="Arial"/>
                <a:ea typeface="Arial"/>
                <a:cs typeface="Arial"/>
              </a:rPr>
              <a:t>One shared treasury.</a:t>
            </a:r>
          </a:p>
          <a:p xmlns:a="http://schemas.openxmlformats.org/drawingml/2006/main">
            <a:pPr algn="l">
              <a:buNone/>
              <a:defRPr sz="3900" b="1">
                <a:solidFill>
                  <a:srgbClr val="19392F"/>
                </a:solidFill>
                <a:latin typeface="Arial"/>
                <a:ea typeface="Arial"/>
                <a:cs typeface="Arial"/>
              </a:defRPr>
            </a:pPr>
            <a:r>
              <a:rPr sz="3900" b="1">
                <a:solidFill>
                  <a:srgbClr val="19392F"/>
                </a:solidFill>
                <a:latin typeface="Arial"/>
                <a:ea typeface="Arial"/>
                <a:cs typeface="Arial"/>
              </a:rPr>
              <a:t>Rules before spending.</a:t>
            </a:r>
          </a:p>
        </p:txBody>
      </p:sp>
      <p:sp>
        <p:nvSpPr>
          <p:cNvPr id="6" name="01">
            <a:extLst xmlns:a="http://schemas.openxmlformats.org/drawingml/2006/main">
              <a:ext uri="{FF2B5EF4-FFF2-40B4-BE49-F238E27FC236}">
                <a16:creationId xmlns:a16="http://schemas.microsoft.com/office/drawing/2014/main" id="{8DBBC599-EE9B-4F3E-A83F-18B8BDFE9D88}"/>
              </a:ext>
            </a:extLst>
          </p:cNvPr>
          <p:cNvSpPr>
            <a:spLocks xmlns:a="http://schemas.openxmlformats.org/drawingml/2006/main" noGrp="1"/>
          </p:cNvSpPr>
          <p:nvPr/>
        </p:nvSpPr>
        <p:spPr>
          <a:xfrm xmlns:a="http://schemas.openxmlformats.org/drawingml/2006/main">
            <a:off x="609600" y="27336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6B58"/>
                </a:solidFill>
                <a:latin typeface="Arial"/>
                <a:ea typeface="Arial"/>
                <a:cs typeface="Arial"/>
              </a:defRPr>
            </a:pPr>
            <a:r>
              <a:rPr sz="1575" b="1">
                <a:solidFill>
                  <a:srgbClr val="176B58"/>
                </a:solidFill>
                <a:latin typeface="Arial"/>
                <a:ea typeface="Arial"/>
                <a:cs typeface="Arial"/>
              </a:rPr>
              <a:t>01</a:t>
            </a:r>
          </a:p>
        </p:txBody>
      </p:sp>
      <p:sp>
        <p:nvSpPr>
          <p:cNvPr id="7" name="A shared balance">
            <a:extLst xmlns:a="http://schemas.openxmlformats.org/drawingml/2006/main">
              <a:ext uri="{FF2B5EF4-FFF2-40B4-BE49-F238E27FC236}">
                <a16:creationId xmlns:a16="http://schemas.microsoft.com/office/drawing/2014/main" id="{4D814752-D617-40BB-B66F-76DCFF76C402}"/>
              </a:ext>
            </a:extLst>
          </p:cNvPr>
          <p:cNvSpPr>
            <a:spLocks xmlns:a="http://schemas.openxmlformats.org/drawingml/2006/main" noGrp="1"/>
          </p:cNvSpPr>
          <p:nvPr/>
        </p:nvSpPr>
        <p:spPr>
          <a:xfrm xmlns:a="http://schemas.openxmlformats.org/drawingml/2006/main">
            <a:off x="1190625" y="272415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9392F"/>
                </a:solidFill>
                <a:latin typeface="Arial"/>
                <a:ea typeface="Arial"/>
                <a:cs typeface="Arial"/>
              </a:defRPr>
            </a:pPr>
            <a:r>
              <a:rPr sz="2100" b="1">
                <a:solidFill>
                  <a:srgbClr val="19392F"/>
                </a:solidFill>
                <a:latin typeface="Arial"/>
                <a:ea typeface="Arial"/>
                <a:cs typeface="Arial"/>
              </a:rPr>
              <a:t>See what is left</a:t>
            </a:r>
          </a:p>
        </p:txBody>
      </p:sp>
      <p:sp>
        <p:nvSpPr>
          <p:cNvPr id="8" name="Dues and expense status in one place.">
            <a:extLst xmlns:a="http://schemas.openxmlformats.org/drawingml/2006/main">
              <a:ext uri="{FF2B5EF4-FFF2-40B4-BE49-F238E27FC236}">
                <a16:creationId xmlns:a16="http://schemas.microsoft.com/office/drawing/2014/main" id="{649D3306-5DE7-4674-9E2B-F262944D537F}"/>
              </a:ext>
            </a:extLst>
          </p:cNvPr>
          <p:cNvSpPr>
            <a:spLocks xmlns:a="http://schemas.openxmlformats.org/drawingml/2006/main" noGrp="1"/>
          </p:cNvSpPr>
          <p:nvPr/>
        </p:nvSpPr>
        <p:spPr>
          <a:xfrm xmlns:a="http://schemas.openxmlformats.org/drawingml/2006/main">
            <a:off x="1190625" y="3133725"/>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6B60"/>
                </a:solidFill>
                <a:latin typeface="Arial"/>
                <a:ea typeface="Arial"/>
                <a:cs typeface="Arial"/>
              </a:defRPr>
            </a:pPr>
            <a:r>
              <a:rPr sz="1650" b="0">
                <a:solidFill>
                  <a:srgbClr val="566B60"/>
                </a:solidFill>
                <a:latin typeface="Arial"/>
                <a:ea typeface="Arial"/>
                <a:cs typeface="Arial"/>
              </a:rPr>
              <a:t>Dues and expenses in one shared view.</a:t>
            </a:r>
          </a:p>
        </p:txBody>
      </p:sp>
      <p:sp>
        <p:nvSpPr>
          <p:cNvPr id="9" name="shape">
            <a:extLst xmlns:a="http://schemas.openxmlformats.org/drawingml/2006/main">
              <a:ext uri="{FF2B5EF4-FFF2-40B4-BE49-F238E27FC236}">
                <a16:creationId xmlns:a16="http://schemas.microsoft.com/office/drawing/2014/main" id="{DC776C1C-5963-4304-BF9A-7AB457042633}"/>
              </a:ext>
            </a:extLst>
          </p:cNvPr>
          <p:cNvSpPr>
            <a:spLocks xmlns:a="http://schemas.openxmlformats.org/drawingml/2006/main" noGrp="1"/>
          </p:cNvSpPr>
          <p:nvPr/>
        </p:nvSpPr>
        <p:spPr>
          <a:xfrm xmlns:a="http://schemas.openxmlformats.org/drawingml/2006/main">
            <a:off x="1190625" y="3609975"/>
            <a:ext cx="5381625"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BC049DE8-FCDF-47F9-8D20-91767AC84200}"/>
              </a:ext>
            </a:extLst>
          </p:cNvPr>
          <p:cNvSpPr>
            <a:spLocks xmlns:a="http://schemas.openxmlformats.org/drawingml/2006/main" noGrp="1"/>
          </p:cNvSpPr>
          <p:nvPr/>
        </p:nvSpPr>
        <p:spPr>
          <a:xfrm xmlns:a="http://schemas.openxmlformats.org/drawingml/2006/main">
            <a:off x="609600" y="38100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6B58"/>
                </a:solidFill>
                <a:latin typeface="Arial"/>
                <a:ea typeface="Arial"/>
                <a:cs typeface="Arial"/>
              </a:defRPr>
            </a:pPr>
            <a:r>
              <a:rPr sz="1575" b="1">
                <a:solidFill>
                  <a:srgbClr val="176B58"/>
                </a:solidFill>
                <a:latin typeface="Arial"/>
                <a:ea typeface="Arial"/>
                <a:cs typeface="Arial"/>
              </a:rPr>
              <a:t>02</a:t>
            </a:r>
          </a:p>
        </p:txBody>
      </p:sp>
      <p:sp>
        <p:nvSpPr>
          <p:cNvPr id="11" name="Rules before payment">
            <a:extLst xmlns:a="http://schemas.openxmlformats.org/drawingml/2006/main">
              <a:ext uri="{FF2B5EF4-FFF2-40B4-BE49-F238E27FC236}">
                <a16:creationId xmlns:a16="http://schemas.microsoft.com/office/drawing/2014/main" id="{027B7482-06FC-479C-B00E-7006C6A47B8B}"/>
              </a:ext>
            </a:extLst>
          </p:cNvPr>
          <p:cNvSpPr>
            <a:spLocks xmlns:a="http://schemas.openxmlformats.org/drawingml/2006/main" noGrp="1"/>
          </p:cNvSpPr>
          <p:nvPr/>
        </p:nvSpPr>
        <p:spPr>
          <a:xfrm xmlns:a="http://schemas.openxmlformats.org/drawingml/2006/main">
            <a:off x="1190625" y="3800475"/>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9392F"/>
                </a:solidFill>
                <a:latin typeface="Arial"/>
                <a:ea typeface="Arial"/>
                <a:cs typeface="Arial"/>
              </a:defRPr>
            </a:pPr>
            <a:r>
              <a:rPr sz="2100" b="1">
                <a:solidFill>
                  <a:srgbClr val="19392F"/>
                </a:solidFill>
                <a:latin typeface="Arial"/>
                <a:ea typeface="Arial"/>
                <a:cs typeface="Arial"/>
              </a:rPr>
              <a:t>One apartment, one vote</a:t>
            </a:r>
          </a:p>
        </p:txBody>
      </p:sp>
      <p:sp>
        <p:nvSpPr>
          <p:cNvPr id="12" name="Apartment votes govern shared spending.">
            <a:extLst xmlns:a="http://schemas.openxmlformats.org/drawingml/2006/main">
              <a:ext uri="{FF2B5EF4-FFF2-40B4-BE49-F238E27FC236}">
                <a16:creationId xmlns:a16="http://schemas.microsoft.com/office/drawing/2014/main" id="{089B8281-4BFA-488B-A9A2-8E58E1DBD22B}"/>
              </a:ext>
            </a:extLst>
          </p:cNvPr>
          <p:cNvSpPr>
            <a:spLocks xmlns:a="http://schemas.openxmlformats.org/drawingml/2006/main" noGrp="1"/>
          </p:cNvSpPr>
          <p:nvPr/>
        </p:nvSpPr>
        <p:spPr>
          <a:xfrm xmlns:a="http://schemas.openxmlformats.org/drawingml/2006/main">
            <a:off x="1190625" y="421005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6B60"/>
                </a:solidFill>
                <a:latin typeface="Arial"/>
                <a:ea typeface="Arial"/>
                <a:cs typeface="Arial"/>
              </a:defRPr>
            </a:pPr>
            <a:r>
              <a:rPr sz="1650" b="0">
                <a:solidFill>
                  <a:srgbClr val="566B60"/>
                </a:solidFill>
                <a:latin typeface="Arial"/>
                <a:ea typeface="Arial"/>
                <a:cs typeface="Arial"/>
              </a:rPr>
              <a:t>A majority can approve early. Residents can object.</a:t>
            </a:r>
          </a:p>
        </p:txBody>
      </p:sp>
      <p:sp>
        <p:nvSpPr>
          <p:cNvPr id="13" name="shape">
            <a:extLst xmlns:a="http://schemas.openxmlformats.org/drawingml/2006/main">
              <a:ext uri="{FF2B5EF4-FFF2-40B4-BE49-F238E27FC236}">
                <a16:creationId xmlns:a16="http://schemas.microsoft.com/office/drawing/2014/main" id="{A9244B6B-9451-434D-A1E5-677EA67375A8}"/>
              </a:ext>
            </a:extLst>
          </p:cNvPr>
          <p:cNvSpPr>
            <a:spLocks xmlns:a="http://schemas.openxmlformats.org/drawingml/2006/main" noGrp="1"/>
          </p:cNvSpPr>
          <p:nvPr/>
        </p:nvSpPr>
        <p:spPr>
          <a:xfrm xmlns:a="http://schemas.openxmlformats.org/drawingml/2006/main">
            <a:off x="1190625" y="4686300"/>
            <a:ext cx="5381625"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4" name="03">
            <a:extLst xmlns:a="http://schemas.openxmlformats.org/drawingml/2006/main">
              <a:ext uri="{FF2B5EF4-FFF2-40B4-BE49-F238E27FC236}">
                <a16:creationId xmlns:a16="http://schemas.microsoft.com/office/drawing/2014/main" id="{3B2A90FF-2FC4-4240-BFCB-CB14A1458EC7}"/>
              </a:ext>
            </a:extLst>
          </p:cNvPr>
          <p:cNvSpPr>
            <a:spLocks xmlns:a="http://schemas.openxmlformats.org/drawingml/2006/main" noGrp="1"/>
          </p:cNvSpPr>
          <p:nvPr/>
        </p:nvSpPr>
        <p:spPr>
          <a:xfrm xmlns:a="http://schemas.openxmlformats.org/drawingml/2006/main">
            <a:off x="609600" y="488632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1">
                <a:solidFill>
                  <a:srgbClr val="176B58"/>
                </a:solidFill>
                <a:latin typeface="Arial"/>
                <a:ea typeface="Arial"/>
                <a:cs typeface="Arial"/>
              </a:defRPr>
            </a:pPr>
            <a:r>
              <a:rPr sz="1575" b="1">
                <a:solidFill>
                  <a:srgbClr val="176B58"/>
                </a:solidFill>
                <a:latin typeface="Arial"/>
                <a:ea typeface="Arial"/>
                <a:cs typeface="Arial"/>
              </a:rPr>
              <a:t>03</a:t>
            </a:r>
          </a:p>
        </p:txBody>
      </p:sp>
      <p:sp>
        <p:nvSpPr>
          <p:cNvPr id="15" name="A familiar bank destination">
            <a:extLst xmlns:a="http://schemas.openxmlformats.org/drawingml/2006/main">
              <a:ext uri="{FF2B5EF4-FFF2-40B4-BE49-F238E27FC236}">
                <a16:creationId xmlns:a16="http://schemas.microsoft.com/office/drawing/2014/main" id="{2EDEDFA8-91E2-4EC0-A2B0-F39C6CC0DCB2}"/>
              </a:ext>
            </a:extLst>
          </p:cNvPr>
          <p:cNvSpPr>
            <a:spLocks xmlns:a="http://schemas.openxmlformats.org/drawingml/2006/main" noGrp="1"/>
          </p:cNvSpPr>
          <p:nvPr/>
        </p:nvSpPr>
        <p:spPr>
          <a:xfrm xmlns:a="http://schemas.openxmlformats.org/drawingml/2006/main">
            <a:off x="1190625" y="48768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9392F"/>
                </a:solidFill>
                <a:latin typeface="Arial"/>
                <a:ea typeface="Arial"/>
                <a:cs typeface="Arial"/>
              </a:defRPr>
            </a:pPr>
            <a:r>
              <a:rPr sz="2100" b="1">
                <a:solidFill>
                  <a:srgbClr val="19392F"/>
                </a:solidFill>
                <a:latin typeface="Arial"/>
                <a:ea typeface="Arial"/>
                <a:cs typeface="Arial"/>
              </a:rPr>
              <a:t>Track the payment</a:t>
            </a:r>
          </a:p>
        </p:txBody>
      </p:sp>
      <p:sp>
        <p:nvSpPr>
          <p:cNvPr id="16" name="Authorized TRY payouts to the manager’s IBAN.">
            <a:extLst xmlns:a="http://schemas.openxmlformats.org/drawingml/2006/main">
              <a:ext uri="{FF2B5EF4-FFF2-40B4-BE49-F238E27FC236}">
                <a16:creationId xmlns:a16="http://schemas.microsoft.com/office/drawing/2014/main" id="{FB88B06E-0A9D-4419-BFFD-C8E4D0BE33D3}"/>
              </a:ext>
            </a:extLst>
          </p:cNvPr>
          <p:cNvSpPr>
            <a:spLocks xmlns:a="http://schemas.openxmlformats.org/drawingml/2006/main" noGrp="1"/>
          </p:cNvSpPr>
          <p:nvPr/>
        </p:nvSpPr>
        <p:spPr>
          <a:xfrm xmlns:a="http://schemas.openxmlformats.org/drawingml/2006/main">
            <a:off x="1190625" y="5286375"/>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566B60"/>
                </a:solidFill>
                <a:latin typeface="Arial"/>
                <a:ea typeface="Arial"/>
                <a:cs typeface="Arial"/>
              </a:defRPr>
            </a:pPr>
            <a:r>
              <a:rPr sz="1650" b="0">
                <a:solidFill>
                  <a:srgbClr val="566B60"/>
                </a:solidFill>
                <a:latin typeface="Arial"/>
                <a:ea typeface="Arial"/>
                <a:cs typeface="Arial"/>
              </a:rPr>
              <a:t>Amount, manager IBAN and payment status.</a:t>
            </a:r>
          </a:p>
        </p:txBody>
      </p:sp>
      <p:sp>
        <p:nvSpPr>
          <p:cNvPr id="17" name="QR invitations and passkey accounts">
            <a:extLst xmlns:a="http://schemas.openxmlformats.org/drawingml/2006/main">
              <a:ext uri="{FF2B5EF4-FFF2-40B4-BE49-F238E27FC236}">
                <a16:creationId xmlns:a16="http://schemas.microsoft.com/office/drawing/2014/main" id="{DCE92E2A-C52E-4BE8-B9B8-EDC060F6BD1A}"/>
              </a:ext>
            </a:extLst>
          </p:cNvPr>
          <p:cNvSpPr>
            <a:spLocks xmlns:a="http://schemas.openxmlformats.org/drawingml/2006/main" noGrp="1"/>
          </p:cNvSpPr>
          <p:nvPr/>
        </p:nvSpPr>
        <p:spPr>
          <a:xfrm xmlns:a="http://schemas.openxmlformats.org/drawingml/2006/main">
            <a:off x="1190625" y="5953125"/>
            <a:ext cx="542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0">
                <a:solidFill>
                  <a:srgbClr val="176B58"/>
                </a:solidFill>
                <a:latin typeface="Arial"/>
                <a:ea typeface="Arial"/>
                <a:cs typeface="Arial"/>
              </a:defRPr>
            </a:pPr>
            <a:r>
              <a:rPr sz="1500" b="0">
                <a:solidFill>
                  <a:srgbClr val="176B58"/>
                </a:solidFill>
                <a:latin typeface="Arial"/>
                <a:ea typeface="Arial"/>
                <a:cs typeface="Arial"/>
              </a:rPr>
              <a:t>Stellar checks the rules before funds leave.</a:t>
            </a:r>
          </a:p>
        </p:txBody>
      </p:sp>
    </p:spTree>
    <p:extLst>
      <p:ext uri="{BB962C8B-B14F-4D97-AF65-F5344CB8AC3E}">
        <p14:creationId xmlns:p14="http://schemas.microsoft.com/office/powerpoint/2010/main" val="127771120"/>
      </p:ext>
    </p:extLst>
  </p:cSld>
</p:sld>
</file>

<file path=ppt/slides/slide4.xml><?xml version="1.0" encoding="utf-8"?>
<p:sld xmlns:p="http://schemas.openxmlformats.org/presentationml/2006/main">
  <p:cSld>
    <p:bg>
      <p:bgPr>
        <a:solidFill xmlns:a="http://schemas.openxmlformats.org/drawingml/2006/main">
          <a:srgbClr val="122B23"/>
        </a:solidFill>
      </p:bgPr>
    </p:bg>
    <p:spTree>
      <p:nvGrpSpPr>
        <p:cNvPr id="1" name=""/>
        <p:cNvGrpSpPr/>
        <p:nvPr/>
      </p:nvGrpSpPr>
      <p:grpSpPr>
        <a:xfrm xmlns:a="http://schemas.openxmlformats.org/drawingml/2006/main"/>
      </p:grpSpPr>
      <p:sp>
        <p:nvSpPr>
          <p:cNvPr id="33" name="TECHNICAL WORKFLOW">
            <a:extLst xmlns:a="http://schemas.openxmlformats.org/drawingml/2006/main">
              <a:ext uri="{FF2B5EF4-FFF2-40B4-BE49-F238E27FC236}">
                <a16:creationId xmlns:a16="http://schemas.microsoft.com/office/drawing/2014/main" id="{F9F93ABA-BB4B-4D08-826D-9D57119493BF}"/>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C5E5CC"/>
                </a:solidFill>
                <a:latin typeface="Arial"/>
                <a:ea typeface="Arial"/>
                <a:cs typeface="Arial"/>
              </a:defRPr>
            </a:pPr>
            <a:r>
              <a:rPr sz="1275" b="1">
                <a:solidFill>
                  <a:srgbClr val="C5E5CC"/>
                </a:solidFill>
                <a:latin typeface="Arial"/>
                <a:ea typeface="Arial"/>
                <a:cs typeface="Arial"/>
              </a:rPr>
              <a:t>TECHNICAL WORKFLOW</a:t>
            </a:r>
          </a:p>
        </p:txBody>
      </p:sp>
      <p:sp>
        <p:nvSpPr>
          <p:cNvPr id="2" name="duly">
            <a:extLst xmlns:a="http://schemas.openxmlformats.org/drawingml/2006/main">
              <a:ext uri="{FF2B5EF4-FFF2-40B4-BE49-F238E27FC236}">
                <a16:creationId xmlns:a16="http://schemas.microsoft.com/office/drawing/2014/main" id="{F47AE3A7-FAC3-4D96-8706-D95B72218CAE}"/>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C5E5CC"/>
                </a:solidFill>
                <a:latin typeface="Arial"/>
                <a:ea typeface="Arial"/>
                <a:cs typeface="Arial"/>
              </a:defRPr>
            </a:pPr>
            <a:r>
              <a:rPr sz="1500" b="1">
                <a:solidFill>
                  <a:srgbClr val="C5E5CC"/>
                </a:solidFill>
                <a:latin typeface="Arial"/>
                <a:ea typeface="Arial"/>
                <a:cs typeface="Arial"/>
              </a:rPr>
              <a:t>duly</a:t>
            </a:r>
          </a:p>
        </p:txBody>
      </p:sp>
      <p:sp>
        <p:nvSpPr>
          <p:cNvPr id="3" name="04">
            <a:extLst xmlns:a="http://schemas.openxmlformats.org/drawingml/2006/main">
              <a:ext uri="{FF2B5EF4-FFF2-40B4-BE49-F238E27FC236}">
                <a16:creationId xmlns:a16="http://schemas.microsoft.com/office/drawing/2014/main" id="{A9A2136F-05AF-401D-A046-68901FEE8B39}"/>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90AFA0"/>
                </a:solidFill>
                <a:latin typeface="Arial"/>
                <a:ea typeface="Arial"/>
                <a:cs typeface="Arial"/>
              </a:defRPr>
            </a:pPr>
            <a:r>
              <a:rPr sz="1275" b="0">
                <a:solidFill>
                  <a:srgbClr val="90AFA0"/>
                </a:solidFill>
                <a:latin typeface="Arial"/>
                <a:ea typeface="Arial"/>
                <a:cs typeface="Arial"/>
              </a:rPr>
              <a:t>04</a:t>
            </a:r>
          </a:p>
        </p:txBody>
      </p:sp>
      <p:sp>
        <p:nvSpPr>
          <p:cNvPr id="4" name="Stellar connects the rules&#10;to the payment">
            <a:extLst xmlns:a="http://schemas.openxmlformats.org/drawingml/2006/main">
              <a:ext uri="{FF2B5EF4-FFF2-40B4-BE49-F238E27FC236}">
                <a16:creationId xmlns:a16="http://schemas.microsoft.com/office/drawing/2014/main" id="{ABA6CAFF-3FD5-47E3-B847-B63AC097099C}"/>
              </a:ext>
            </a:extLst>
          </p:cNvPr>
          <p:cNvSpPr>
            <a:spLocks xmlns:a="http://schemas.openxmlformats.org/drawingml/2006/main" noGrp="1"/>
          </p:cNvSpPr>
          <p:nvPr/>
        </p:nvSpPr>
        <p:spPr>
          <a:xfrm xmlns:a="http://schemas.openxmlformats.org/drawingml/2006/main">
            <a:off x="609600" y="942975"/>
            <a:ext cx="107632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75" b="1">
                <a:solidFill>
                  <a:srgbClr val="FCFDFB"/>
                </a:solidFill>
                <a:latin typeface="Arial"/>
                <a:ea typeface="Arial"/>
                <a:cs typeface="Arial"/>
              </a:defRPr>
            </a:pPr>
            <a:r>
              <a:rPr sz="3975" b="1">
                <a:solidFill>
                  <a:srgbClr val="FCFDFB"/>
                </a:solidFill>
                <a:latin typeface="Arial"/>
                <a:ea typeface="Arial"/>
                <a:cs typeface="Arial"/>
              </a:rPr>
              <a:t>Stellar connects the rules</a:t>
            </a:r>
          </a:p>
          <a:p xmlns:a="http://schemas.openxmlformats.org/drawingml/2006/main">
            <a:pPr algn="l">
              <a:buNone/>
              <a:defRPr sz="3975" b="1">
                <a:solidFill>
                  <a:srgbClr val="FCFDFB"/>
                </a:solidFill>
                <a:latin typeface="Arial"/>
                <a:ea typeface="Arial"/>
                <a:cs typeface="Arial"/>
              </a:defRPr>
            </a:pPr>
            <a:r>
              <a:rPr sz="3975" b="1">
                <a:solidFill>
                  <a:srgbClr val="FCFDFB"/>
                </a:solidFill>
                <a:latin typeface="Arial"/>
                <a:ea typeface="Arial"/>
                <a:cs typeface="Arial"/>
              </a:rPr>
              <a:t>to the payment</a:t>
            </a:r>
          </a:p>
        </p:txBody>
      </p:sp>
      <p:sp>
        <p:nvSpPr>
          <p:cNvPr id="5" name="Apartment signatures">
            <a:extLst xmlns:a="http://schemas.openxmlformats.org/drawingml/2006/main">
              <a:ext uri="{FF2B5EF4-FFF2-40B4-BE49-F238E27FC236}">
                <a16:creationId xmlns:a16="http://schemas.microsoft.com/office/drawing/2014/main" id="{9B33B3EA-E1CC-4DC2-875F-7A5ACAE3C1DB}"/>
              </a:ext>
            </a:extLst>
          </p:cNvPr>
          <p:cNvSpPr>
            <a:spLocks xmlns:a="http://schemas.openxmlformats.org/drawingml/2006/main" noGrp="1"/>
          </p:cNvSpPr>
          <p:nvPr/>
        </p:nvSpPr>
        <p:spPr>
          <a:xfrm xmlns:a="http://schemas.openxmlformats.org/drawingml/2006/main">
            <a:off x="2638425" y="2438400"/>
            <a:ext cx="2524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1">
                <a:solidFill>
                  <a:srgbClr val="C5E5CC"/>
                </a:solidFill>
                <a:latin typeface="Arial"/>
                <a:ea typeface="Arial"/>
                <a:cs typeface="Arial"/>
              </a:defRPr>
            </a:pPr>
            <a:r>
              <a:rPr sz="1650" b="1">
                <a:solidFill>
                  <a:srgbClr val="C5E5CC"/>
                </a:solidFill>
                <a:latin typeface="Arial"/>
                <a:ea typeface="Arial"/>
                <a:cs typeface="Arial"/>
              </a:rPr>
              <a:t>Apartment signatures</a:t>
            </a:r>
          </a:p>
        </p:txBody>
      </p:sp>
      <p:sp>
        <p:nvSpPr>
          <p:cNvPr id="6" name="shape">
            <a:extLst xmlns:a="http://schemas.openxmlformats.org/drawingml/2006/main">
              <a:ext uri="{FF2B5EF4-FFF2-40B4-BE49-F238E27FC236}">
                <a16:creationId xmlns:a16="http://schemas.microsoft.com/office/drawing/2014/main" id="{4BA4D50A-7763-41C5-B896-72249F0D6532}"/>
              </a:ext>
            </a:extLst>
          </p:cNvPr>
          <p:cNvSpPr>
            <a:spLocks xmlns:a="http://schemas.openxmlformats.org/drawingml/2006/main" noGrp="1"/>
          </p:cNvSpPr>
          <p:nvPr/>
        </p:nvSpPr>
        <p:spPr>
          <a:xfrm xmlns:a="http://schemas.openxmlformats.org/drawingml/2006/main">
            <a:off x="3771900" y="2790825"/>
            <a:ext cx="114300" cy="352425"/>
          </a:xfrm>
          <a:prstGeom xmlns:a="http://schemas.openxmlformats.org/drawingml/2006/main" prst="downArrow">
            <a:avLst/>
          </a:prstGeom>
          <a:solidFill xmlns:a="http://schemas.openxmlformats.org/drawingml/2006/main">
            <a:srgbClr val="C5E5CC"/>
          </a:solidFill>
          <a:ln xmlns:a="http://schemas.openxmlformats.org/drawingml/2006/main" w="0">
            <a:noFill/>
          </a:ln>
        </p:spPr>
      </p:sp>
      <p:sp>
        <p:nvSpPr>
          <p:cNvPr id="7" name="shape">
            <a:extLst xmlns:a="http://schemas.openxmlformats.org/drawingml/2006/main">
              <a:ext uri="{FF2B5EF4-FFF2-40B4-BE49-F238E27FC236}">
                <a16:creationId xmlns:a16="http://schemas.microsoft.com/office/drawing/2014/main" id="{3F83F3F1-B462-4A05-A8F8-3B14A37875A9}"/>
              </a:ext>
            </a:extLst>
          </p:cNvPr>
          <p:cNvSpPr>
            <a:spLocks xmlns:a="http://schemas.openxmlformats.org/drawingml/2006/main" noGrp="1"/>
          </p:cNvSpPr>
          <p:nvPr/>
        </p:nvSpPr>
        <p:spPr>
          <a:xfrm xmlns:a="http://schemas.openxmlformats.org/drawingml/2006/main">
            <a:off x="609600" y="3362325"/>
            <a:ext cx="1600200" cy="857250"/>
          </a:xfrm>
          <a:prstGeom xmlns:a="http://schemas.openxmlformats.org/drawingml/2006/main" prst="rect">
            <a:avLst/>
          </a:prstGeom>
          <a:solidFill xmlns:a="http://schemas.openxmlformats.org/drawingml/2006/main">
            <a:srgbClr val="244336"/>
          </a:solidFill>
          <a:ln xmlns:a="http://schemas.openxmlformats.org/drawingml/2006/main" w="11430">
            <a:solidFill>
              <a:srgbClr val="507760"/>
            </a:solidFill>
          </a:ln>
        </p:spPr>
      </p:sp>
      <p:sp>
        <p:nvSpPr>
          <p:cNvPr id="8" name="Resident">
            <a:extLst xmlns:a="http://schemas.openxmlformats.org/drawingml/2006/main">
              <a:ext uri="{FF2B5EF4-FFF2-40B4-BE49-F238E27FC236}">
                <a16:creationId xmlns:a16="http://schemas.microsoft.com/office/drawing/2014/main" id="{4ABFF021-608E-4096-9E39-8002E794530B}"/>
              </a:ext>
            </a:extLst>
          </p:cNvPr>
          <p:cNvSpPr>
            <a:spLocks xmlns:a="http://schemas.openxmlformats.org/drawingml/2006/main" noGrp="1"/>
          </p:cNvSpPr>
          <p:nvPr/>
        </p:nvSpPr>
        <p:spPr>
          <a:xfrm xmlns:a="http://schemas.openxmlformats.org/drawingml/2006/main">
            <a:off x="752475" y="3495675"/>
            <a:ext cx="1314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CFDFB"/>
                </a:solidFill>
                <a:latin typeface="Arial"/>
                <a:ea typeface="Arial"/>
                <a:cs typeface="Arial"/>
              </a:defRPr>
            </a:pPr>
            <a:r>
              <a:rPr sz="1800" b="1">
                <a:solidFill>
                  <a:srgbClr val="FCFDFB"/>
                </a:solidFill>
                <a:latin typeface="Arial"/>
                <a:ea typeface="Arial"/>
                <a:cs typeface="Arial"/>
              </a:rPr>
              <a:t>Resident</a:t>
            </a:r>
          </a:p>
        </p:txBody>
      </p:sp>
      <p:sp>
        <p:nvSpPr>
          <p:cNvPr id="9" name="Test USDC">
            <a:extLst xmlns:a="http://schemas.openxmlformats.org/drawingml/2006/main">
              <a:ext uri="{FF2B5EF4-FFF2-40B4-BE49-F238E27FC236}">
                <a16:creationId xmlns:a16="http://schemas.microsoft.com/office/drawing/2014/main" id="{C10A4D46-55BC-48E7-8DFA-73BDE3C16B0B}"/>
              </a:ext>
            </a:extLst>
          </p:cNvPr>
          <p:cNvSpPr>
            <a:spLocks xmlns:a="http://schemas.openxmlformats.org/drawingml/2006/main" noGrp="1"/>
          </p:cNvSpPr>
          <p:nvPr/>
        </p:nvSpPr>
        <p:spPr>
          <a:xfrm xmlns:a="http://schemas.openxmlformats.org/drawingml/2006/main">
            <a:off x="752475" y="3838575"/>
            <a:ext cx="13144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5E5CC"/>
                </a:solidFill>
                <a:latin typeface="Arial"/>
                <a:ea typeface="Arial"/>
                <a:cs typeface="Arial"/>
              </a:defRPr>
            </a:pPr>
            <a:r>
              <a:rPr sz="1275" b="0">
                <a:solidFill>
                  <a:srgbClr val="C5E5CC"/>
                </a:solidFill>
                <a:latin typeface="Arial"/>
                <a:ea typeface="Arial"/>
                <a:cs typeface="Arial"/>
              </a:rPr>
              <a:t>Test USDC</a:t>
            </a:r>
          </a:p>
        </p:txBody>
      </p:sp>
      <p:sp>
        <p:nvSpPr>
          <p:cNvPr id="10" name="shape">
            <a:extLst xmlns:a="http://schemas.openxmlformats.org/drawingml/2006/main">
              <a:ext uri="{FF2B5EF4-FFF2-40B4-BE49-F238E27FC236}">
                <a16:creationId xmlns:a16="http://schemas.microsoft.com/office/drawing/2014/main" id="{3F3C5D26-6272-43FA-9A31-AB081287881D}"/>
              </a:ext>
            </a:extLst>
          </p:cNvPr>
          <p:cNvSpPr>
            <a:spLocks xmlns:a="http://schemas.openxmlformats.org/drawingml/2006/main" noGrp="1"/>
          </p:cNvSpPr>
          <p:nvPr/>
        </p:nvSpPr>
        <p:spPr>
          <a:xfrm xmlns:a="http://schemas.openxmlformats.org/drawingml/2006/main">
            <a:off x="2324100" y="3724275"/>
            <a:ext cx="333375" cy="133350"/>
          </a:xfrm>
          <a:prstGeom xmlns:a="http://schemas.openxmlformats.org/drawingml/2006/main" prst="rightArrow">
            <a:avLst/>
          </a:prstGeom>
          <a:solidFill xmlns:a="http://schemas.openxmlformats.org/drawingml/2006/main">
            <a:srgbClr val="C5E5CC"/>
          </a:solidFill>
          <a:ln xmlns:a="http://schemas.openxmlformats.org/drawingml/2006/main" w="0">
            <a:noFill/>
          </a:ln>
        </p:spPr>
      </p:sp>
      <p:sp>
        <p:nvSpPr>
          <p:cNvPr id="11" name="shape">
            <a:extLst xmlns:a="http://schemas.openxmlformats.org/drawingml/2006/main">
              <a:ext uri="{FF2B5EF4-FFF2-40B4-BE49-F238E27FC236}">
                <a16:creationId xmlns:a16="http://schemas.microsoft.com/office/drawing/2014/main" id="{0468AC5A-A216-4816-87D8-6FD4203CEF10}"/>
              </a:ext>
            </a:extLst>
          </p:cNvPr>
          <p:cNvSpPr>
            <a:spLocks xmlns:a="http://schemas.openxmlformats.org/drawingml/2006/main" noGrp="1"/>
          </p:cNvSpPr>
          <p:nvPr/>
        </p:nvSpPr>
        <p:spPr>
          <a:xfrm xmlns:a="http://schemas.openxmlformats.org/drawingml/2006/main">
            <a:off x="2771775" y="3362325"/>
            <a:ext cx="2000250" cy="857250"/>
          </a:xfrm>
          <a:prstGeom xmlns:a="http://schemas.openxmlformats.org/drawingml/2006/main" prst="rect">
            <a:avLst/>
          </a:prstGeom>
          <a:solidFill xmlns:a="http://schemas.openxmlformats.org/drawingml/2006/main">
            <a:srgbClr val="244336"/>
          </a:solidFill>
          <a:ln xmlns:a="http://schemas.openxmlformats.org/drawingml/2006/main" w="11430">
            <a:solidFill>
              <a:srgbClr val="507760"/>
            </a:solidFill>
          </a:ln>
        </p:spPr>
      </p:sp>
      <p:sp>
        <p:nvSpPr>
          <p:cNvPr id="12" name="Treasury">
            <a:extLst xmlns:a="http://schemas.openxmlformats.org/drawingml/2006/main">
              <a:ext uri="{FF2B5EF4-FFF2-40B4-BE49-F238E27FC236}">
                <a16:creationId xmlns:a16="http://schemas.microsoft.com/office/drawing/2014/main" id="{6F26D4DF-AFE9-4EBA-96EF-9D50B31D6501}"/>
              </a:ext>
            </a:extLst>
          </p:cNvPr>
          <p:cNvSpPr>
            <a:spLocks xmlns:a="http://schemas.openxmlformats.org/drawingml/2006/main" noGrp="1"/>
          </p:cNvSpPr>
          <p:nvPr/>
        </p:nvSpPr>
        <p:spPr>
          <a:xfrm xmlns:a="http://schemas.openxmlformats.org/drawingml/2006/main">
            <a:off x="2914650" y="349567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CFDFB"/>
                </a:solidFill>
                <a:latin typeface="Arial"/>
                <a:ea typeface="Arial"/>
                <a:cs typeface="Arial"/>
              </a:defRPr>
            </a:pPr>
            <a:r>
              <a:rPr sz="1800" b="1">
                <a:solidFill>
                  <a:srgbClr val="FCFDFB"/>
                </a:solidFill>
                <a:latin typeface="Arial"/>
                <a:ea typeface="Arial"/>
                <a:cs typeface="Arial"/>
              </a:rPr>
              <a:t>Treasury</a:t>
            </a:r>
          </a:p>
        </p:txBody>
      </p:sp>
      <p:sp>
        <p:nvSpPr>
          <p:cNvPr id="13" name="Soroban rules">
            <a:extLst xmlns:a="http://schemas.openxmlformats.org/drawingml/2006/main">
              <a:ext uri="{FF2B5EF4-FFF2-40B4-BE49-F238E27FC236}">
                <a16:creationId xmlns:a16="http://schemas.microsoft.com/office/drawing/2014/main" id="{035265F8-3521-4A04-9CE5-80D2730F1FEE}"/>
              </a:ext>
            </a:extLst>
          </p:cNvPr>
          <p:cNvSpPr>
            <a:spLocks xmlns:a="http://schemas.openxmlformats.org/drawingml/2006/main" noGrp="1"/>
          </p:cNvSpPr>
          <p:nvPr/>
        </p:nvSpPr>
        <p:spPr>
          <a:xfrm xmlns:a="http://schemas.openxmlformats.org/drawingml/2006/main">
            <a:off x="2914650" y="38385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5E5CC"/>
                </a:solidFill>
                <a:latin typeface="Arial"/>
                <a:ea typeface="Arial"/>
                <a:cs typeface="Arial"/>
              </a:defRPr>
            </a:pPr>
            <a:r>
              <a:rPr sz="1275" b="0">
                <a:solidFill>
                  <a:srgbClr val="C5E5CC"/>
                </a:solidFill>
                <a:latin typeface="Arial"/>
                <a:ea typeface="Arial"/>
                <a:cs typeface="Arial"/>
              </a:rPr>
              <a:t>Soroban rules</a:t>
            </a:r>
          </a:p>
        </p:txBody>
      </p:sp>
      <p:sp>
        <p:nvSpPr>
          <p:cNvPr id="14" name="shape">
            <a:extLst xmlns:a="http://schemas.openxmlformats.org/drawingml/2006/main">
              <a:ext uri="{FF2B5EF4-FFF2-40B4-BE49-F238E27FC236}">
                <a16:creationId xmlns:a16="http://schemas.microsoft.com/office/drawing/2014/main" id="{6D31DC97-E3B2-412E-BE74-CA31F08AC28A}"/>
              </a:ext>
            </a:extLst>
          </p:cNvPr>
          <p:cNvSpPr>
            <a:spLocks xmlns:a="http://schemas.openxmlformats.org/drawingml/2006/main" noGrp="1"/>
          </p:cNvSpPr>
          <p:nvPr/>
        </p:nvSpPr>
        <p:spPr>
          <a:xfrm xmlns:a="http://schemas.openxmlformats.org/drawingml/2006/main">
            <a:off x="4886325" y="3724275"/>
            <a:ext cx="333375" cy="133350"/>
          </a:xfrm>
          <a:prstGeom xmlns:a="http://schemas.openxmlformats.org/drawingml/2006/main" prst="rightArrow">
            <a:avLst/>
          </a:prstGeom>
          <a:solidFill xmlns:a="http://schemas.openxmlformats.org/drawingml/2006/main">
            <a:srgbClr val="C5E5CC"/>
          </a:solidFill>
          <a:ln xmlns:a="http://schemas.openxmlformats.org/drawingml/2006/main" w="0">
            <a:noFill/>
          </a:ln>
        </p:spPr>
      </p:sp>
      <p:sp>
        <p:nvSpPr>
          <p:cNvPr id="15" name="shape">
            <a:extLst xmlns:a="http://schemas.openxmlformats.org/drawingml/2006/main">
              <a:ext uri="{FF2B5EF4-FFF2-40B4-BE49-F238E27FC236}">
                <a16:creationId xmlns:a16="http://schemas.microsoft.com/office/drawing/2014/main" id="{29895198-E7CE-4544-AF04-4487EE295D8B}"/>
              </a:ext>
            </a:extLst>
          </p:cNvPr>
          <p:cNvSpPr>
            <a:spLocks xmlns:a="http://schemas.openxmlformats.org/drawingml/2006/main" noGrp="1"/>
          </p:cNvSpPr>
          <p:nvPr/>
        </p:nvSpPr>
        <p:spPr>
          <a:xfrm xmlns:a="http://schemas.openxmlformats.org/drawingml/2006/main">
            <a:off x="5334000" y="3362325"/>
            <a:ext cx="1828800" cy="857250"/>
          </a:xfrm>
          <a:prstGeom xmlns:a="http://schemas.openxmlformats.org/drawingml/2006/main" prst="rect">
            <a:avLst/>
          </a:prstGeom>
          <a:solidFill xmlns:a="http://schemas.openxmlformats.org/drawingml/2006/main">
            <a:srgbClr val="244336"/>
          </a:solidFill>
          <a:ln xmlns:a="http://schemas.openxmlformats.org/drawingml/2006/main" w="11430">
            <a:solidFill>
              <a:srgbClr val="507760"/>
            </a:solidFill>
          </a:ln>
        </p:spPr>
      </p:sp>
      <p:sp>
        <p:nvSpPr>
          <p:cNvPr id="16" name="Bank adapter">
            <a:extLst xmlns:a="http://schemas.openxmlformats.org/drawingml/2006/main">
              <a:ext uri="{FF2B5EF4-FFF2-40B4-BE49-F238E27FC236}">
                <a16:creationId xmlns:a16="http://schemas.microsoft.com/office/drawing/2014/main" id="{0773E5A9-A2EE-4AF0-AF62-6532ADEBE94A}"/>
              </a:ext>
            </a:extLst>
          </p:cNvPr>
          <p:cNvSpPr>
            <a:spLocks xmlns:a="http://schemas.openxmlformats.org/drawingml/2006/main" noGrp="1"/>
          </p:cNvSpPr>
          <p:nvPr/>
        </p:nvSpPr>
        <p:spPr>
          <a:xfrm xmlns:a="http://schemas.openxmlformats.org/drawingml/2006/main">
            <a:off x="5476875" y="3495675"/>
            <a:ext cx="15430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CFDFB"/>
                </a:solidFill>
                <a:latin typeface="Arial"/>
                <a:ea typeface="Arial"/>
                <a:cs typeface="Arial"/>
              </a:defRPr>
            </a:pPr>
            <a:r>
              <a:rPr sz="1800" b="1">
                <a:solidFill>
                  <a:srgbClr val="FCFDFB"/>
                </a:solidFill>
                <a:latin typeface="Arial"/>
                <a:ea typeface="Arial"/>
                <a:cs typeface="Arial"/>
              </a:rPr>
              <a:t>Bank adapter</a:t>
            </a:r>
          </a:p>
        </p:txBody>
      </p:sp>
      <p:sp>
        <p:nvSpPr>
          <p:cNvPr id="17" name="Escrow + memo">
            <a:extLst xmlns:a="http://schemas.openxmlformats.org/drawingml/2006/main">
              <a:ext uri="{FF2B5EF4-FFF2-40B4-BE49-F238E27FC236}">
                <a16:creationId xmlns:a16="http://schemas.microsoft.com/office/drawing/2014/main" id="{F3CED8B3-826D-4D91-A136-69183435281D}"/>
              </a:ext>
            </a:extLst>
          </p:cNvPr>
          <p:cNvSpPr>
            <a:spLocks xmlns:a="http://schemas.openxmlformats.org/drawingml/2006/main" noGrp="1"/>
          </p:cNvSpPr>
          <p:nvPr/>
        </p:nvSpPr>
        <p:spPr>
          <a:xfrm xmlns:a="http://schemas.openxmlformats.org/drawingml/2006/main">
            <a:off x="5476875" y="3838575"/>
            <a:ext cx="1543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5E5CC"/>
                </a:solidFill>
                <a:latin typeface="Arial"/>
                <a:ea typeface="Arial"/>
                <a:cs typeface="Arial"/>
              </a:defRPr>
            </a:pPr>
            <a:r>
              <a:rPr sz="1275" b="0">
                <a:solidFill>
                  <a:srgbClr val="C5E5CC"/>
                </a:solidFill>
                <a:latin typeface="Arial"/>
                <a:ea typeface="Arial"/>
                <a:cs typeface="Arial"/>
              </a:rPr>
              <a:t>Escrow + memo</a:t>
            </a:r>
          </a:p>
        </p:txBody>
      </p:sp>
      <p:sp>
        <p:nvSpPr>
          <p:cNvPr id="18" name="shape">
            <a:extLst xmlns:a="http://schemas.openxmlformats.org/drawingml/2006/main">
              <a:ext uri="{FF2B5EF4-FFF2-40B4-BE49-F238E27FC236}">
                <a16:creationId xmlns:a16="http://schemas.microsoft.com/office/drawing/2014/main" id="{45431237-0B70-492D-BCF5-ACF9800A7B23}"/>
              </a:ext>
            </a:extLst>
          </p:cNvPr>
          <p:cNvSpPr>
            <a:spLocks xmlns:a="http://schemas.openxmlformats.org/drawingml/2006/main" noGrp="1"/>
          </p:cNvSpPr>
          <p:nvPr/>
        </p:nvSpPr>
        <p:spPr>
          <a:xfrm xmlns:a="http://schemas.openxmlformats.org/drawingml/2006/main">
            <a:off x="7277100" y="3724275"/>
            <a:ext cx="333375" cy="133350"/>
          </a:xfrm>
          <a:prstGeom xmlns:a="http://schemas.openxmlformats.org/drawingml/2006/main" prst="rightArrow">
            <a:avLst/>
          </a:prstGeom>
          <a:solidFill xmlns:a="http://schemas.openxmlformats.org/drawingml/2006/main">
            <a:srgbClr val="C5E5CC"/>
          </a:solidFill>
          <a:ln xmlns:a="http://schemas.openxmlformats.org/drawingml/2006/main" w="0">
            <a:noFill/>
          </a:ln>
        </p:spPr>
      </p:sp>
      <p:sp>
        <p:nvSpPr>
          <p:cNvPr id="19" name="shape">
            <a:extLst xmlns:a="http://schemas.openxmlformats.org/drawingml/2006/main">
              <a:ext uri="{FF2B5EF4-FFF2-40B4-BE49-F238E27FC236}">
                <a16:creationId xmlns:a16="http://schemas.microsoft.com/office/drawing/2014/main" id="{7A9370E8-FBB2-4D03-A192-E43C3E7EC407}"/>
              </a:ext>
            </a:extLst>
          </p:cNvPr>
          <p:cNvSpPr>
            <a:spLocks xmlns:a="http://schemas.openxmlformats.org/drawingml/2006/main" noGrp="1"/>
          </p:cNvSpPr>
          <p:nvPr/>
        </p:nvSpPr>
        <p:spPr>
          <a:xfrm xmlns:a="http://schemas.openxmlformats.org/drawingml/2006/main">
            <a:off x="7724775" y="3362325"/>
            <a:ext cx="1657350" cy="857250"/>
          </a:xfrm>
          <a:prstGeom xmlns:a="http://schemas.openxmlformats.org/drawingml/2006/main" prst="rect">
            <a:avLst/>
          </a:prstGeom>
          <a:solidFill xmlns:a="http://schemas.openxmlformats.org/drawingml/2006/main">
            <a:srgbClr val="244336"/>
          </a:solidFill>
          <a:ln xmlns:a="http://schemas.openxmlformats.org/drawingml/2006/main" w="11430">
            <a:solidFill>
              <a:srgbClr val="507760"/>
            </a:solidFill>
          </a:ln>
        </p:spPr>
      </p:sp>
      <p:sp>
        <p:nvSpPr>
          <p:cNvPr id="20" name="TRY anchor">
            <a:extLst xmlns:a="http://schemas.openxmlformats.org/drawingml/2006/main">
              <a:ext uri="{FF2B5EF4-FFF2-40B4-BE49-F238E27FC236}">
                <a16:creationId xmlns:a16="http://schemas.microsoft.com/office/drawing/2014/main" id="{5268AE0C-A24D-41F6-A4B6-36304D1C933B}"/>
              </a:ext>
            </a:extLst>
          </p:cNvPr>
          <p:cNvSpPr>
            <a:spLocks xmlns:a="http://schemas.openxmlformats.org/drawingml/2006/main" noGrp="1"/>
          </p:cNvSpPr>
          <p:nvPr/>
        </p:nvSpPr>
        <p:spPr>
          <a:xfrm xmlns:a="http://schemas.openxmlformats.org/drawingml/2006/main">
            <a:off x="7867650" y="3495675"/>
            <a:ext cx="1371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CFDFB"/>
                </a:solidFill>
                <a:latin typeface="Arial"/>
                <a:ea typeface="Arial"/>
                <a:cs typeface="Arial"/>
              </a:defRPr>
            </a:pPr>
            <a:r>
              <a:rPr sz="1800" b="1">
                <a:solidFill>
                  <a:srgbClr val="FCFDFB"/>
                </a:solidFill>
                <a:latin typeface="Arial"/>
                <a:ea typeface="Arial"/>
                <a:cs typeface="Arial"/>
              </a:rPr>
              <a:t>TRY anchor</a:t>
            </a:r>
          </a:p>
        </p:txBody>
      </p:sp>
      <p:sp>
        <p:nvSpPr>
          <p:cNvPr id="21" name="SEP sandbox">
            <a:extLst xmlns:a="http://schemas.openxmlformats.org/drawingml/2006/main">
              <a:ext uri="{FF2B5EF4-FFF2-40B4-BE49-F238E27FC236}">
                <a16:creationId xmlns:a16="http://schemas.microsoft.com/office/drawing/2014/main" id="{2E02EFE2-A4DE-45B0-B77A-D4ABBFAA41A9}"/>
              </a:ext>
            </a:extLst>
          </p:cNvPr>
          <p:cNvSpPr>
            <a:spLocks xmlns:a="http://schemas.openxmlformats.org/drawingml/2006/main" noGrp="1"/>
          </p:cNvSpPr>
          <p:nvPr/>
        </p:nvSpPr>
        <p:spPr>
          <a:xfrm xmlns:a="http://schemas.openxmlformats.org/drawingml/2006/main">
            <a:off x="7867650" y="3838575"/>
            <a:ext cx="1371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5E5CC"/>
                </a:solidFill>
                <a:latin typeface="Arial"/>
                <a:ea typeface="Arial"/>
                <a:cs typeface="Arial"/>
              </a:defRPr>
            </a:pPr>
            <a:r>
              <a:rPr sz="1275" b="0">
                <a:solidFill>
                  <a:srgbClr val="C5E5CC"/>
                </a:solidFill>
                <a:latin typeface="Arial"/>
                <a:ea typeface="Arial"/>
                <a:cs typeface="Arial"/>
              </a:rPr>
              <a:t>SEP sandbox</a:t>
            </a:r>
          </a:p>
        </p:txBody>
      </p:sp>
      <p:sp>
        <p:nvSpPr>
          <p:cNvPr id="22" name="shape">
            <a:extLst xmlns:a="http://schemas.openxmlformats.org/drawingml/2006/main">
              <a:ext uri="{FF2B5EF4-FFF2-40B4-BE49-F238E27FC236}">
                <a16:creationId xmlns:a16="http://schemas.microsoft.com/office/drawing/2014/main" id="{8E3360E8-65ED-4172-B26B-24B654ECBEEF}"/>
              </a:ext>
            </a:extLst>
          </p:cNvPr>
          <p:cNvSpPr>
            <a:spLocks xmlns:a="http://schemas.openxmlformats.org/drawingml/2006/main" noGrp="1"/>
          </p:cNvSpPr>
          <p:nvPr/>
        </p:nvSpPr>
        <p:spPr>
          <a:xfrm xmlns:a="http://schemas.openxmlformats.org/drawingml/2006/main">
            <a:off x="9496425" y="3724275"/>
            <a:ext cx="333375" cy="133350"/>
          </a:xfrm>
          <a:prstGeom xmlns:a="http://schemas.openxmlformats.org/drawingml/2006/main" prst="rightArrow">
            <a:avLst/>
          </a:prstGeom>
          <a:solidFill xmlns:a="http://schemas.openxmlformats.org/drawingml/2006/main">
            <a:srgbClr val="C5E5CC"/>
          </a:solidFill>
          <a:ln xmlns:a="http://schemas.openxmlformats.org/drawingml/2006/main" w="0">
            <a:noFill/>
          </a:ln>
        </p:spPr>
      </p:sp>
      <p:sp>
        <p:nvSpPr>
          <p:cNvPr id="23" name="shape">
            <a:extLst xmlns:a="http://schemas.openxmlformats.org/drawingml/2006/main">
              <a:ext uri="{FF2B5EF4-FFF2-40B4-BE49-F238E27FC236}">
                <a16:creationId xmlns:a16="http://schemas.microsoft.com/office/drawing/2014/main" id="{62A91C21-3D92-4675-AB39-83460D674B1E}"/>
              </a:ext>
            </a:extLst>
          </p:cNvPr>
          <p:cNvSpPr>
            <a:spLocks xmlns:a="http://schemas.openxmlformats.org/drawingml/2006/main" noGrp="1"/>
          </p:cNvSpPr>
          <p:nvPr/>
        </p:nvSpPr>
        <p:spPr>
          <a:xfrm xmlns:a="http://schemas.openxmlformats.org/drawingml/2006/main">
            <a:off x="9944100" y="3362325"/>
            <a:ext cx="1647825" cy="857250"/>
          </a:xfrm>
          <a:prstGeom xmlns:a="http://schemas.openxmlformats.org/drawingml/2006/main" prst="rect">
            <a:avLst/>
          </a:prstGeom>
          <a:solidFill xmlns:a="http://schemas.openxmlformats.org/drawingml/2006/main">
            <a:srgbClr val="244336"/>
          </a:solidFill>
          <a:ln xmlns:a="http://schemas.openxmlformats.org/drawingml/2006/main" w="11430">
            <a:solidFill>
              <a:srgbClr val="507760"/>
            </a:solidFill>
          </a:ln>
        </p:spPr>
      </p:sp>
      <p:sp>
        <p:nvSpPr>
          <p:cNvPr id="24" name="Manager">
            <a:extLst xmlns:a="http://schemas.openxmlformats.org/drawingml/2006/main">
              <a:ext uri="{FF2B5EF4-FFF2-40B4-BE49-F238E27FC236}">
                <a16:creationId xmlns:a16="http://schemas.microsoft.com/office/drawing/2014/main" id="{3E5A6637-6CD9-48D4-AE28-0D9654A044CB}"/>
              </a:ext>
            </a:extLst>
          </p:cNvPr>
          <p:cNvSpPr>
            <a:spLocks xmlns:a="http://schemas.openxmlformats.org/drawingml/2006/main" noGrp="1"/>
          </p:cNvSpPr>
          <p:nvPr/>
        </p:nvSpPr>
        <p:spPr>
          <a:xfrm xmlns:a="http://schemas.openxmlformats.org/drawingml/2006/main">
            <a:off x="10086975" y="3495675"/>
            <a:ext cx="13620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CFDFB"/>
                </a:solidFill>
                <a:latin typeface="Arial"/>
                <a:ea typeface="Arial"/>
                <a:cs typeface="Arial"/>
              </a:defRPr>
            </a:pPr>
            <a:r>
              <a:rPr sz="1800" b="1">
                <a:solidFill>
                  <a:srgbClr val="FCFDFB"/>
                </a:solidFill>
                <a:latin typeface="Arial"/>
                <a:ea typeface="Arial"/>
                <a:cs typeface="Arial"/>
              </a:rPr>
              <a:t>Manager</a:t>
            </a:r>
          </a:p>
        </p:txBody>
      </p:sp>
      <p:sp>
        <p:nvSpPr>
          <p:cNvPr id="25" name="Saved IBAN">
            <a:extLst xmlns:a="http://schemas.openxmlformats.org/drawingml/2006/main">
              <a:ext uri="{FF2B5EF4-FFF2-40B4-BE49-F238E27FC236}">
                <a16:creationId xmlns:a16="http://schemas.microsoft.com/office/drawing/2014/main" id="{C205A449-D9F0-4898-BB05-9FD477A7451B}"/>
              </a:ext>
            </a:extLst>
          </p:cNvPr>
          <p:cNvSpPr>
            <a:spLocks xmlns:a="http://schemas.openxmlformats.org/drawingml/2006/main" noGrp="1"/>
          </p:cNvSpPr>
          <p:nvPr/>
        </p:nvSpPr>
        <p:spPr>
          <a:xfrm xmlns:a="http://schemas.openxmlformats.org/drawingml/2006/main">
            <a:off x="10086975" y="3838575"/>
            <a:ext cx="13620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5E5CC"/>
                </a:solidFill>
                <a:latin typeface="Arial"/>
                <a:ea typeface="Arial"/>
                <a:cs typeface="Arial"/>
              </a:defRPr>
            </a:pPr>
            <a:r>
              <a:rPr sz="1275" b="0">
                <a:solidFill>
                  <a:srgbClr val="C5E5CC"/>
                </a:solidFill>
                <a:latin typeface="Arial"/>
                <a:ea typeface="Arial"/>
                <a:cs typeface="Arial"/>
              </a:rPr>
              <a:t>Saved IBAN</a:t>
            </a:r>
          </a:p>
        </p:txBody>
      </p:sp>
      <p:sp>
        <p:nvSpPr>
          <p:cNvPr id="26" name="shape">
            <a:extLst xmlns:a="http://schemas.openxmlformats.org/drawingml/2006/main">
              <a:ext uri="{FF2B5EF4-FFF2-40B4-BE49-F238E27FC236}">
                <a16:creationId xmlns:a16="http://schemas.microsoft.com/office/drawing/2014/main" id="{5C1ABB56-25AB-4A1E-AC94-DA193B3A5B6F}"/>
              </a:ext>
            </a:extLst>
          </p:cNvPr>
          <p:cNvSpPr>
            <a:spLocks xmlns:a="http://schemas.openxmlformats.org/drawingml/2006/main" noGrp="1"/>
          </p:cNvSpPr>
          <p:nvPr/>
        </p:nvSpPr>
        <p:spPr>
          <a:xfrm xmlns:a="http://schemas.openxmlformats.org/drawingml/2006/main">
            <a:off x="3333750" y="4333875"/>
            <a:ext cx="133350" cy="457200"/>
          </a:xfrm>
          <a:prstGeom xmlns:a="http://schemas.openxmlformats.org/drawingml/2006/main" prst="downArrow">
            <a:avLst/>
          </a:prstGeom>
          <a:solidFill xmlns:a="http://schemas.openxmlformats.org/drawingml/2006/main">
            <a:srgbClr val="C5E5CC"/>
          </a:solidFill>
          <a:ln xmlns:a="http://schemas.openxmlformats.org/drawingml/2006/main" w="0">
            <a:noFill/>
          </a:ln>
        </p:spPr>
      </p:sp>
      <p:sp>
        <p:nvSpPr>
          <p:cNvPr id="27" name="shape">
            <a:extLst xmlns:a="http://schemas.openxmlformats.org/drawingml/2006/main">
              <a:ext uri="{FF2B5EF4-FFF2-40B4-BE49-F238E27FC236}">
                <a16:creationId xmlns:a16="http://schemas.microsoft.com/office/drawing/2014/main" id="{D5EE1A7E-D7ED-4228-A4EA-C0A433AD4FA8}"/>
              </a:ext>
            </a:extLst>
          </p:cNvPr>
          <p:cNvSpPr>
            <a:spLocks xmlns:a="http://schemas.openxmlformats.org/drawingml/2006/main" noGrp="1"/>
          </p:cNvSpPr>
          <p:nvPr/>
        </p:nvSpPr>
        <p:spPr>
          <a:xfrm xmlns:a="http://schemas.openxmlformats.org/drawingml/2006/main">
            <a:off x="4000500" y="4333875"/>
            <a:ext cx="133350" cy="457200"/>
          </a:xfrm>
          <a:prstGeom xmlns:a="http://schemas.openxmlformats.org/drawingml/2006/main" prst="upArrow">
            <a:avLst/>
          </a:prstGeom>
          <a:solidFill xmlns:a="http://schemas.openxmlformats.org/drawingml/2006/main">
            <a:srgbClr val="C5E5CC"/>
          </a:solidFill>
          <a:ln xmlns:a="http://schemas.openxmlformats.org/drawingml/2006/main" w="0">
            <a:noFill/>
          </a:ln>
        </p:spPr>
      </p:sp>
      <p:sp>
        <p:nvSpPr>
          <p:cNvPr id="28" name="shape">
            <a:extLst xmlns:a="http://schemas.openxmlformats.org/drawingml/2006/main">
              <a:ext uri="{FF2B5EF4-FFF2-40B4-BE49-F238E27FC236}">
                <a16:creationId xmlns:a16="http://schemas.microsoft.com/office/drawing/2014/main" id="{0A4F5DDA-0382-4B73-982A-737631430DF8}"/>
              </a:ext>
            </a:extLst>
          </p:cNvPr>
          <p:cNvSpPr>
            <a:spLocks xmlns:a="http://schemas.openxmlformats.org/drawingml/2006/main" noGrp="1"/>
          </p:cNvSpPr>
          <p:nvPr/>
        </p:nvSpPr>
        <p:spPr>
          <a:xfrm xmlns:a="http://schemas.openxmlformats.org/drawingml/2006/main">
            <a:off x="2771775" y="4895850"/>
            <a:ext cx="2447925" cy="838200"/>
          </a:xfrm>
          <a:prstGeom xmlns:a="http://schemas.openxmlformats.org/drawingml/2006/main" prst="rect">
            <a:avLst/>
          </a:prstGeom>
          <a:solidFill xmlns:a="http://schemas.openxmlformats.org/drawingml/2006/main">
            <a:srgbClr val="244336"/>
          </a:solidFill>
          <a:ln xmlns:a="http://schemas.openxmlformats.org/drawingml/2006/main" w="11430">
            <a:solidFill>
              <a:srgbClr val="507760"/>
            </a:solidFill>
          </a:ln>
        </p:spPr>
      </p:sp>
      <p:sp>
        <p:nvSpPr>
          <p:cNvPr id="29" name="DeFindex reserve">
            <a:extLst xmlns:a="http://schemas.openxmlformats.org/drawingml/2006/main">
              <a:ext uri="{FF2B5EF4-FFF2-40B4-BE49-F238E27FC236}">
                <a16:creationId xmlns:a16="http://schemas.microsoft.com/office/drawing/2014/main" id="{9FF24A68-C15D-43DD-AC67-CFEE54100F51}"/>
              </a:ext>
            </a:extLst>
          </p:cNvPr>
          <p:cNvSpPr>
            <a:spLocks xmlns:a="http://schemas.openxmlformats.org/drawingml/2006/main" noGrp="1"/>
          </p:cNvSpPr>
          <p:nvPr/>
        </p:nvSpPr>
        <p:spPr>
          <a:xfrm xmlns:a="http://schemas.openxmlformats.org/drawingml/2006/main">
            <a:off x="2914650" y="5029200"/>
            <a:ext cx="21621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FCFDFB"/>
                </a:solidFill>
                <a:latin typeface="Arial"/>
                <a:ea typeface="Arial"/>
                <a:cs typeface="Arial"/>
              </a:defRPr>
            </a:pPr>
            <a:r>
              <a:rPr sz="1800" b="1">
                <a:solidFill>
                  <a:srgbClr val="FCFDFB"/>
                </a:solidFill>
                <a:latin typeface="Arial"/>
                <a:ea typeface="Arial"/>
                <a:cs typeface="Arial"/>
              </a:rPr>
              <a:t>DeFindex reserve</a:t>
            </a:r>
          </a:p>
        </p:txBody>
      </p:sp>
      <p:sp>
        <p:nvSpPr>
          <p:cNvPr id="30" name="Deposit and redeem">
            <a:extLst xmlns:a="http://schemas.openxmlformats.org/drawingml/2006/main">
              <a:ext uri="{FF2B5EF4-FFF2-40B4-BE49-F238E27FC236}">
                <a16:creationId xmlns:a16="http://schemas.microsoft.com/office/drawing/2014/main" id="{A00B84B5-CE7B-4257-9AD7-D77EE2549B06}"/>
              </a:ext>
            </a:extLst>
          </p:cNvPr>
          <p:cNvSpPr>
            <a:spLocks xmlns:a="http://schemas.openxmlformats.org/drawingml/2006/main" noGrp="1"/>
          </p:cNvSpPr>
          <p:nvPr/>
        </p:nvSpPr>
        <p:spPr>
          <a:xfrm xmlns:a="http://schemas.openxmlformats.org/drawingml/2006/main">
            <a:off x="2914650" y="5372100"/>
            <a:ext cx="21621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0">
                <a:solidFill>
                  <a:srgbClr val="C5E5CC"/>
                </a:solidFill>
                <a:latin typeface="Arial"/>
                <a:ea typeface="Arial"/>
                <a:cs typeface="Arial"/>
              </a:defRPr>
            </a:pPr>
            <a:r>
              <a:rPr sz="1275" b="0">
                <a:solidFill>
                  <a:srgbClr val="C5E5CC"/>
                </a:solidFill>
                <a:latin typeface="Arial"/>
                <a:ea typeface="Arial"/>
                <a:cs typeface="Arial"/>
              </a:rPr>
              <a:t>Deposit and redeem</a:t>
            </a:r>
          </a:p>
        </p:txBody>
      </p:sp>
      <p:sp>
        <p:nvSpPr>
          <p:cNvPr id="31" name="Simulated bank settlement">
            <a:extLst xmlns:a="http://schemas.openxmlformats.org/drawingml/2006/main">
              <a:ext uri="{FF2B5EF4-FFF2-40B4-BE49-F238E27FC236}">
                <a16:creationId xmlns:a16="http://schemas.microsoft.com/office/drawing/2014/main" id="{845B88AF-7581-4970-AD0E-2FCEBB499F14}"/>
              </a:ext>
            </a:extLst>
          </p:cNvPr>
          <p:cNvSpPr>
            <a:spLocks xmlns:a="http://schemas.openxmlformats.org/drawingml/2006/main" noGrp="1"/>
          </p:cNvSpPr>
          <p:nvPr/>
        </p:nvSpPr>
        <p:spPr>
          <a:xfrm xmlns:a="http://schemas.openxmlformats.org/drawingml/2006/main">
            <a:off x="7496175" y="4448175"/>
            <a:ext cx="4067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C5E5CC"/>
                </a:solidFill>
                <a:latin typeface="Arial"/>
                <a:ea typeface="Arial"/>
                <a:cs typeface="Arial"/>
              </a:defRPr>
            </a:pPr>
            <a:r>
              <a:rPr sz="1575" b="0">
                <a:solidFill>
                  <a:srgbClr val="C5E5CC"/>
                </a:solidFill>
                <a:latin typeface="Arial"/>
                <a:ea typeface="Arial"/>
                <a:cs typeface="Arial"/>
              </a:rPr>
              <a:t>Simulated bank settlement</a:t>
            </a:r>
          </a:p>
        </p:txBody>
      </p:sp>
      <p:sp>
        <p:nvSpPr>
          <p:cNvPr id="32" name="The vault sits in the funds flow. The bank adapter">
            <a:extLst xmlns:a="http://schemas.openxmlformats.org/drawingml/2006/main">
              <a:ext uri="{FF2B5EF4-FFF2-40B4-BE49-F238E27FC236}">
                <a16:creationId xmlns:a16="http://schemas.microsoft.com/office/drawing/2014/main" id="{7940B893-E4D6-4FEC-8651-14D9DD6C8CD8}"/>
              </a:ext>
            </a:extLst>
          </p:cNvPr>
          <p:cNvSpPr>
            <a:spLocks xmlns:a="http://schemas.openxmlformats.org/drawingml/2006/main" noGrp="1"/>
          </p:cNvSpPr>
          <p:nvPr/>
        </p:nvSpPr>
        <p:spPr>
          <a:xfrm xmlns:a="http://schemas.openxmlformats.org/drawingml/2006/main">
            <a:off x="5800725" y="5200650"/>
            <a:ext cx="5686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5E5CC"/>
                </a:solidFill>
                <a:latin typeface="Arial"/>
                <a:ea typeface="Arial"/>
                <a:cs typeface="Arial"/>
              </a:defRPr>
            </a:pPr>
            <a:r>
              <a:rPr sz="1650" b="0">
                <a:solidFill>
                  <a:srgbClr val="C5E5CC"/>
                </a:solidFill>
                <a:latin typeface="Arial"/>
                <a:ea typeface="Arial"/>
                <a:cs typeface="Arial"/>
              </a:rPr>
              <a:t>The vault sits in the funds flow. The bank adapter remains trusted.</a:t>
            </a:r>
          </a:p>
        </p:txBody>
      </p:sp>
    </p:spTree>
    <p:extLst>
      <p:ext uri="{BB962C8B-B14F-4D97-AF65-F5344CB8AC3E}">
        <p14:creationId xmlns:p14="http://schemas.microsoft.com/office/powerpoint/2010/main" val="426610914"/>
      </p:ext>
    </p:extLst>
  </p:cSld>
</p:sld>
</file>

<file path=ppt/slides/slide5.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pic>
        <p:nvPicPr>
          <p:cNvPr id="2" name="Duly product demo — embedded 45-second video" descr="Actual Duly website demo; 45 seconds; silent. Stellar Testnet, simulated bank and solo-demo votes.">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ulyVideo"/>
            <p:extLst>
              <p:ext uri="{DAA4B4D4-6D71-4841-9C94-3DE7FCFB9230}">
                <p14:media xmlns:p14="http://schemas.microsoft.com/office/powerpoint/2010/main" xmlns:ns3="http://schemas.openxmlformats.org/officeDocument/2006/relationships" ns3:embed="rIdDulyMedia"/>
              </p:ext>
            </p:extLst>
          </p:nvPr>
        </p:nvPicPr>
        <p:blipFill>
          <a:blip xmlns:r="http://schemas.openxmlformats.org/officeDocument/2006/relationships" xmlns:a="http://schemas.openxmlformats.org/drawingml/2006/main" r:embed="R3a1369d495474bc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41119577"/>
      </p:ext>
    </p:extLst>
  </p:cSld>
  <p:timing>
    <p:tnLst>
      <p:par>
        <p:cTn id="1" dur="indefinite" restart="never" nodeType="tmRoot">
          <p:childTnLst>
            <p:video>
              <p:cMediaNode vol="0">
                <p:cTn id="2" fill="hold" display="0">
                  <p:stCondLst>
                    <p:cond delay="0"/>
                  </p:stCondLst>
                </p:cTn>
                <p:tgtEl>
                  <p:spTgt spid="2"/>
                </p:tgtEl>
              </p:cMediaNode>
            </p:video>
          </p:childTnLst>
        </p:cTn>
      </p:par>
    </p:tnLst>
  </p:timing>
</p:sld>
</file>

<file path=ppt/slides/slide6.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22" name="PMF / USER ACQUISITION PLAN">
            <a:extLst xmlns:a="http://schemas.openxmlformats.org/drawingml/2006/main">
              <a:ext uri="{FF2B5EF4-FFF2-40B4-BE49-F238E27FC236}">
                <a16:creationId xmlns:a16="http://schemas.microsoft.com/office/drawing/2014/main" id="{06D1747D-F801-4BA5-B0AB-B08A2501F684}"/>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176B58"/>
                </a:solidFill>
                <a:latin typeface="Arial"/>
                <a:ea typeface="Arial"/>
                <a:cs typeface="Arial"/>
              </a:defRPr>
            </a:pPr>
            <a:r>
              <a:rPr sz="1275" b="1">
                <a:solidFill>
                  <a:srgbClr val="176B58"/>
                </a:solidFill>
                <a:latin typeface="Arial"/>
                <a:ea typeface="Arial"/>
                <a:cs typeface="Arial"/>
              </a:rPr>
              <a:t>PMF / USER ACQUISITION PLAN</a:t>
            </a:r>
          </a:p>
        </p:txBody>
      </p:sp>
      <p:sp>
        <p:nvSpPr>
          <p:cNvPr id="3" name="page-number">
            <a:extLst xmlns:a="http://schemas.openxmlformats.org/drawingml/2006/main">
              <a:ext uri="{FF2B5EF4-FFF2-40B4-BE49-F238E27FC236}">
                <a16:creationId xmlns:a16="http://schemas.microsoft.com/office/drawing/2014/main" id="{211E30EE-8216-4F2F-AEB7-656D6A1DABAD}"/>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6B60"/>
                </a:solidFill>
                <a:latin typeface="Arial"/>
                <a:ea typeface="Arial"/>
                <a:cs typeface="Arial"/>
              </a:defRPr>
            </a:pPr>
            <a:r>
              <a:rPr sz="1275" b="0">
                <a:solidFill>
                  <a:srgbClr val="566B60"/>
                </a:solidFill>
                <a:latin typeface="Arial"/>
                <a:ea typeface="Arial"/>
                <a:cs typeface="Arial"/>
              </a:rPr>
              <a:t>06</a:t>
            </a:r>
          </a:p>
        </p:txBody>
      </p:sp>
      <p:sp>
        <p:nvSpPr>
          <p:cNvPr id="4" name="acquisition-title">
            <a:extLst xmlns:a="http://schemas.openxmlformats.org/drawingml/2006/main">
              <a:ext uri="{FF2B5EF4-FFF2-40B4-BE49-F238E27FC236}">
                <a16:creationId xmlns:a16="http://schemas.microsoft.com/office/drawing/2014/main" id="{8144B554-577C-463E-84FC-44A2DEEEAC59}"/>
              </a:ext>
            </a:extLst>
          </p:cNvPr>
          <p:cNvSpPr>
            <a:spLocks xmlns:a="http://schemas.openxmlformats.org/drawingml/2006/main" noGrp="1"/>
          </p:cNvSpPr>
          <p:nvPr/>
        </p:nvSpPr>
        <p:spPr>
          <a:xfrm xmlns:a="http://schemas.openxmlformats.org/drawingml/2006/main">
            <a:off x="609600" y="952500"/>
            <a:ext cx="109347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19392F"/>
                </a:solidFill>
                <a:latin typeface="Arial"/>
                <a:ea typeface="Arial"/>
                <a:cs typeface="Arial"/>
              </a:defRPr>
            </a:pPr>
            <a:r>
              <a:rPr sz="4125" b="1">
                <a:solidFill>
                  <a:srgbClr val="19392F"/>
                </a:solidFill>
                <a:latin typeface="Arial"/>
                <a:ea typeface="Arial"/>
                <a:cs typeface="Arial"/>
              </a:rPr>
              <a:t>One manager can bring</a:t>
            </a:r>
          </a:p>
          <a:p xmlns:a="http://schemas.openxmlformats.org/drawingml/2006/main">
            <a:pPr algn="l">
              <a:defRPr sz="4125" b="1">
                <a:solidFill>
                  <a:srgbClr val="19392F"/>
                </a:solidFill>
                <a:latin typeface="Arial"/>
                <a:ea typeface="Arial"/>
                <a:cs typeface="Arial"/>
              </a:defRPr>
            </a:pPr>
            <a:r>
              <a:rPr sz="4125" b="1">
                <a:solidFill>
                  <a:srgbClr val="19392F"/>
                </a:solidFill>
                <a:latin typeface="Arial"/>
                <a:ea typeface="Arial"/>
                <a:cs typeface="Arial"/>
              </a:rPr>
              <a:t>a whole building</a:t>
            </a:r>
          </a:p>
        </p:txBody>
      </p:sp>
      <p:sp>
        <p:nvSpPr>
          <p:cNvPr id="5" name="First users: volunteer managers of small apartment buildings.">
            <a:extLst xmlns:a="http://schemas.openxmlformats.org/drawingml/2006/main">
              <a:ext uri="{FF2B5EF4-FFF2-40B4-BE49-F238E27FC236}">
                <a16:creationId xmlns:a16="http://schemas.microsoft.com/office/drawing/2014/main" id="{11FA0A9E-2BE1-424C-8357-55EA5354AA0D}"/>
              </a:ext>
            </a:extLst>
          </p:cNvPr>
          <p:cNvSpPr>
            <a:spLocks xmlns:a="http://schemas.openxmlformats.org/drawingml/2006/main" noGrp="1"/>
          </p:cNvSpPr>
          <p:nvPr/>
        </p:nvSpPr>
        <p:spPr>
          <a:xfrm xmlns:a="http://schemas.openxmlformats.org/drawingml/2006/main">
            <a:off x="609600" y="2409825"/>
            <a:ext cx="10953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6B58"/>
                </a:solidFill>
                <a:latin typeface="Arial"/>
                <a:ea typeface="Arial"/>
                <a:cs typeface="Arial"/>
              </a:defRPr>
            </a:pPr>
            <a:r>
              <a:rPr sz="1950" b="0">
                <a:solidFill>
                  <a:srgbClr val="176B58"/>
                </a:solidFill>
                <a:latin typeface="Arial"/>
                <a:ea typeface="Arial"/>
                <a:cs typeface="Arial"/>
              </a:rPr>
              <a:t>First users: volunteer managers of small apartment buildings.</a:t>
            </a:r>
          </a:p>
        </p:txBody>
      </p:sp>
      <p:sp>
        <p:nvSpPr>
          <p:cNvPr id="6" name="acquisition-divider">
            <a:extLst xmlns:a="http://schemas.openxmlformats.org/drawingml/2006/main">
              <a:ext uri="{FF2B5EF4-FFF2-40B4-BE49-F238E27FC236}">
                <a16:creationId xmlns:a16="http://schemas.microsoft.com/office/drawing/2014/main" id="{408D15E8-5EB7-4E25-B04C-980680FA9F1B}"/>
              </a:ext>
            </a:extLst>
          </p:cNvPr>
          <p:cNvSpPr>
            <a:spLocks xmlns:a="http://schemas.openxmlformats.org/drawingml/2006/main" noGrp="1"/>
          </p:cNvSpPr>
          <p:nvPr/>
        </p:nvSpPr>
        <p:spPr>
          <a:xfrm xmlns:a="http://schemas.openxmlformats.org/drawingml/2006/main">
            <a:off x="609600" y="3009900"/>
            <a:ext cx="1097280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7" name="01  REACH">
            <a:extLst xmlns:a="http://schemas.openxmlformats.org/drawingml/2006/main">
              <a:ext uri="{FF2B5EF4-FFF2-40B4-BE49-F238E27FC236}">
                <a16:creationId xmlns:a16="http://schemas.microsoft.com/office/drawing/2014/main" id="{7F89E4B6-58C5-4AFE-ADF2-B8AAE43E34EA}"/>
              </a:ext>
            </a:extLst>
          </p:cNvPr>
          <p:cNvSpPr>
            <a:spLocks xmlns:a="http://schemas.openxmlformats.org/drawingml/2006/main" noGrp="1"/>
          </p:cNvSpPr>
          <p:nvPr/>
        </p:nvSpPr>
        <p:spPr>
          <a:xfrm xmlns:a="http://schemas.openxmlformats.org/drawingml/2006/main">
            <a:off x="609600" y="33051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01  REACH</a:t>
            </a:r>
          </a:p>
        </p:txBody>
      </p:sp>
      <p:sp>
        <p:nvSpPr>
          <p:cNvPr id="8" name="Direct&#10;outreach">
            <a:extLst xmlns:a="http://schemas.openxmlformats.org/drawingml/2006/main">
              <a:ext uri="{FF2B5EF4-FFF2-40B4-BE49-F238E27FC236}">
                <a16:creationId xmlns:a16="http://schemas.microsoft.com/office/drawing/2014/main" id="{3E43720D-8D5B-4B4D-ACD2-61805FA15250}"/>
              </a:ext>
            </a:extLst>
          </p:cNvPr>
          <p:cNvSpPr>
            <a:spLocks xmlns:a="http://schemas.openxmlformats.org/drawingml/2006/main" noGrp="1"/>
          </p:cNvSpPr>
          <p:nvPr/>
        </p:nvSpPr>
        <p:spPr>
          <a:xfrm xmlns:a="http://schemas.openxmlformats.org/drawingml/2006/main">
            <a:off x="609600" y="3714750"/>
            <a:ext cx="2543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Direct</a:t>
            </a:r>
          </a:p>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outreach</a:t>
            </a:r>
          </a:p>
        </p:txBody>
      </p:sp>
      <p:sp>
        <p:nvSpPr>
          <p:cNvPr id="9" name="Our network and local&#10;resident groups.">
            <a:extLst xmlns:a="http://schemas.openxmlformats.org/drawingml/2006/main">
              <a:ext uri="{FF2B5EF4-FFF2-40B4-BE49-F238E27FC236}">
                <a16:creationId xmlns:a16="http://schemas.microsoft.com/office/drawing/2014/main" id="{B7ECBD6E-F91B-418B-BADE-6C25B0779740}"/>
              </a:ext>
            </a:extLst>
          </p:cNvPr>
          <p:cNvSpPr>
            <a:spLocks xmlns:a="http://schemas.openxmlformats.org/drawingml/2006/main" noGrp="1"/>
          </p:cNvSpPr>
          <p:nvPr/>
        </p:nvSpPr>
        <p:spPr>
          <a:xfrm xmlns:a="http://schemas.openxmlformats.org/drawingml/2006/main">
            <a:off x="609600" y="4638675"/>
            <a:ext cx="2552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Our network and local</a:t>
            </a:r>
          </a:p>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resident groups.</a:t>
            </a:r>
          </a:p>
        </p:txBody>
      </p:sp>
      <p:sp>
        <p:nvSpPr>
          <p:cNvPr id="10" name="02  ACTIVATE">
            <a:extLst xmlns:a="http://schemas.openxmlformats.org/drawingml/2006/main">
              <a:ext uri="{FF2B5EF4-FFF2-40B4-BE49-F238E27FC236}">
                <a16:creationId xmlns:a16="http://schemas.microsoft.com/office/drawing/2014/main" id="{7A1692DC-35AD-4C57-BB5F-620CACA19D0D}"/>
              </a:ext>
            </a:extLst>
          </p:cNvPr>
          <p:cNvSpPr>
            <a:spLocks xmlns:a="http://schemas.openxmlformats.org/drawingml/2006/main" noGrp="1"/>
          </p:cNvSpPr>
          <p:nvPr/>
        </p:nvSpPr>
        <p:spPr>
          <a:xfrm xmlns:a="http://schemas.openxmlformats.org/drawingml/2006/main">
            <a:off x="3409950" y="33051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02  ACTIVATE</a:t>
            </a:r>
          </a:p>
        </p:txBody>
      </p:sp>
      <p:sp>
        <p:nvSpPr>
          <p:cNvPr id="11" name="Guide the&#10;first cycle">
            <a:extLst xmlns:a="http://schemas.openxmlformats.org/drawingml/2006/main">
              <a:ext uri="{FF2B5EF4-FFF2-40B4-BE49-F238E27FC236}">
                <a16:creationId xmlns:a16="http://schemas.microsoft.com/office/drawing/2014/main" id="{1DC348A3-5AAF-490F-9C52-648635AD1C10}"/>
              </a:ext>
            </a:extLst>
          </p:cNvPr>
          <p:cNvSpPr>
            <a:spLocks xmlns:a="http://schemas.openxmlformats.org/drawingml/2006/main" noGrp="1"/>
          </p:cNvSpPr>
          <p:nvPr/>
        </p:nvSpPr>
        <p:spPr>
          <a:xfrm xmlns:a="http://schemas.openxmlformats.org/drawingml/2006/main">
            <a:off x="3409950" y="3714750"/>
            <a:ext cx="2543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Guide the</a:t>
            </a:r>
          </a:p>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first cycle</a:t>
            </a:r>
          </a:p>
        </p:txBody>
      </p:sp>
      <p:sp>
        <p:nvSpPr>
          <p:cNvPr id="12" name="QR invitations, test dues&#10;and a shared repair vote.">
            <a:extLst xmlns:a="http://schemas.openxmlformats.org/drawingml/2006/main">
              <a:ext uri="{FF2B5EF4-FFF2-40B4-BE49-F238E27FC236}">
                <a16:creationId xmlns:a16="http://schemas.microsoft.com/office/drawing/2014/main" id="{F2407132-EB5A-4868-9BE9-376986A5CBF6}"/>
              </a:ext>
            </a:extLst>
          </p:cNvPr>
          <p:cNvSpPr>
            <a:spLocks xmlns:a="http://schemas.openxmlformats.org/drawingml/2006/main" noGrp="1"/>
          </p:cNvSpPr>
          <p:nvPr/>
        </p:nvSpPr>
        <p:spPr>
          <a:xfrm xmlns:a="http://schemas.openxmlformats.org/drawingml/2006/main">
            <a:off x="3409950" y="4638675"/>
            <a:ext cx="2552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QR invitations, test dues</a:t>
            </a:r>
          </a:p>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and a shared repair vote.</a:t>
            </a:r>
          </a:p>
        </p:txBody>
      </p:sp>
      <p:sp>
        <p:nvSpPr>
          <p:cNvPr id="13" name="03  RETAIN">
            <a:extLst xmlns:a="http://schemas.openxmlformats.org/drawingml/2006/main">
              <a:ext uri="{FF2B5EF4-FFF2-40B4-BE49-F238E27FC236}">
                <a16:creationId xmlns:a16="http://schemas.microsoft.com/office/drawing/2014/main" id="{81A5BF87-BBB0-4CC1-8EB2-5791A863A5E9}"/>
              </a:ext>
            </a:extLst>
          </p:cNvPr>
          <p:cNvSpPr>
            <a:spLocks xmlns:a="http://schemas.openxmlformats.org/drawingml/2006/main" noGrp="1"/>
          </p:cNvSpPr>
          <p:nvPr/>
        </p:nvSpPr>
        <p:spPr>
          <a:xfrm xmlns:a="http://schemas.openxmlformats.org/drawingml/2006/main">
            <a:off x="6210300" y="33051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03  RETAIN</a:t>
            </a:r>
          </a:p>
        </p:txBody>
      </p:sp>
      <p:sp>
        <p:nvSpPr>
          <p:cNvPr id="14" name="Measure&#10;repeat use">
            <a:extLst xmlns:a="http://schemas.openxmlformats.org/drawingml/2006/main">
              <a:ext uri="{FF2B5EF4-FFF2-40B4-BE49-F238E27FC236}">
                <a16:creationId xmlns:a16="http://schemas.microsoft.com/office/drawing/2014/main" id="{3A2E7BEF-4B6D-4703-9EED-2BCF413838F4}"/>
              </a:ext>
            </a:extLst>
          </p:cNvPr>
          <p:cNvSpPr>
            <a:spLocks xmlns:a="http://schemas.openxmlformats.org/drawingml/2006/main" noGrp="1"/>
          </p:cNvSpPr>
          <p:nvPr/>
        </p:nvSpPr>
        <p:spPr>
          <a:xfrm xmlns:a="http://schemas.openxmlformats.org/drawingml/2006/main">
            <a:off x="6210300" y="3714750"/>
            <a:ext cx="2543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Measure</a:t>
            </a:r>
          </a:p>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repeat use</a:t>
            </a:r>
          </a:p>
        </p:txBody>
      </p:sp>
      <p:sp>
        <p:nvSpPr>
          <p:cNvPr id="15" name="Do residents return for&#10;the next dues cycle?">
            <a:extLst xmlns:a="http://schemas.openxmlformats.org/drawingml/2006/main">
              <a:ext uri="{FF2B5EF4-FFF2-40B4-BE49-F238E27FC236}">
                <a16:creationId xmlns:a16="http://schemas.microsoft.com/office/drawing/2014/main" id="{922FC0A0-66DC-4FA7-8F20-8DC00253FFDF}"/>
              </a:ext>
            </a:extLst>
          </p:cNvPr>
          <p:cNvSpPr>
            <a:spLocks xmlns:a="http://schemas.openxmlformats.org/drawingml/2006/main" noGrp="1"/>
          </p:cNvSpPr>
          <p:nvPr/>
        </p:nvSpPr>
        <p:spPr>
          <a:xfrm xmlns:a="http://schemas.openxmlformats.org/drawingml/2006/main">
            <a:off x="6210300" y="4638675"/>
            <a:ext cx="2552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Do residents return for</a:t>
            </a:r>
          </a:p>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the next dues cycle?</a:t>
            </a:r>
          </a:p>
        </p:txBody>
      </p:sp>
      <p:sp>
        <p:nvSpPr>
          <p:cNvPr id="16" name="04  EXPAND">
            <a:extLst xmlns:a="http://schemas.openxmlformats.org/drawingml/2006/main">
              <a:ext uri="{FF2B5EF4-FFF2-40B4-BE49-F238E27FC236}">
                <a16:creationId xmlns:a16="http://schemas.microsoft.com/office/drawing/2014/main" id="{67C32284-0AFE-459F-8C72-EFDAF5AE1D89}"/>
              </a:ext>
            </a:extLst>
          </p:cNvPr>
          <p:cNvSpPr>
            <a:spLocks xmlns:a="http://schemas.openxmlformats.org/drawingml/2006/main" noGrp="1"/>
          </p:cNvSpPr>
          <p:nvPr/>
        </p:nvSpPr>
        <p:spPr>
          <a:xfrm xmlns:a="http://schemas.openxmlformats.org/drawingml/2006/main">
            <a:off x="9010650" y="3305175"/>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176B58"/>
                </a:solidFill>
                <a:latin typeface="Arial"/>
                <a:ea typeface="Arial"/>
                <a:cs typeface="Arial"/>
              </a:defRPr>
            </a:pPr>
            <a:r>
              <a:rPr sz="1350" b="1">
                <a:solidFill>
                  <a:srgbClr val="176B58"/>
                </a:solidFill>
                <a:latin typeface="Arial"/>
                <a:ea typeface="Arial"/>
                <a:cs typeface="Arial"/>
              </a:rPr>
              <a:t>04  EXPAND</a:t>
            </a:r>
          </a:p>
        </p:txBody>
      </p:sp>
      <p:sp>
        <p:nvSpPr>
          <p:cNvPr id="17" name="Manager&#10;referrals">
            <a:extLst xmlns:a="http://schemas.openxmlformats.org/drawingml/2006/main">
              <a:ext uri="{FF2B5EF4-FFF2-40B4-BE49-F238E27FC236}">
                <a16:creationId xmlns:a16="http://schemas.microsoft.com/office/drawing/2014/main" id="{BD63677C-DF48-4D33-A140-88266BD2B954}"/>
              </a:ext>
            </a:extLst>
          </p:cNvPr>
          <p:cNvSpPr>
            <a:spLocks xmlns:a="http://schemas.openxmlformats.org/drawingml/2006/main" noGrp="1"/>
          </p:cNvSpPr>
          <p:nvPr/>
        </p:nvSpPr>
        <p:spPr>
          <a:xfrm xmlns:a="http://schemas.openxmlformats.org/drawingml/2006/main">
            <a:off x="9010650" y="3714750"/>
            <a:ext cx="2543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Manager</a:t>
            </a:r>
          </a:p>
          <a:p xmlns:a="http://schemas.openxmlformats.org/drawingml/2006/main">
            <a:pPr algn="l">
              <a:defRPr sz="2175" b="1">
                <a:solidFill>
                  <a:srgbClr val="19392F"/>
                </a:solidFill>
                <a:latin typeface="Arial"/>
                <a:ea typeface="Arial"/>
                <a:cs typeface="Arial"/>
              </a:defRPr>
            </a:pPr>
            <a:r>
              <a:rPr sz="2175" b="1">
                <a:solidFill>
                  <a:srgbClr val="19392F"/>
                </a:solidFill>
                <a:latin typeface="Arial"/>
                <a:ea typeface="Arial"/>
                <a:cs typeface="Arial"/>
              </a:rPr>
              <a:t>referrals</a:t>
            </a:r>
          </a:p>
        </p:txBody>
      </p:sp>
      <p:sp>
        <p:nvSpPr>
          <p:cNvPr id="18" name="Ask active managers to&#10;introduce another building.">
            <a:extLst xmlns:a="http://schemas.openxmlformats.org/drawingml/2006/main">
              <a:ext uri="{FF2B5EF4-FFF2-40B4-BE49-F238E27FC236}">
                <a16:creationId xmlns:a16="http://schemas.microsoft.com/office/drawing/2014/main" id="{AF74598A-FD7E-451F-8116-A2BE9A1A570A}"/>
              </a:ext>
            </a:extLst>
          </p:cNvPr>
          <p:cNvSpPr>
            <a:spLocks xmlns:a="http://schemas.openxmlformats.org/drawingml/2006/main" noGrp="1"/>
          </p:cNvSpPr>
          <p:nvPr/>
        </p:nvSpPr>
        <p:spPr>
          <a:xfrm xmlns:a="http://schemas.openxmlformats.org/drawingml/2006/main">
            <a:off x="9010650" y="4638675"/>
            <a:ext cx="25527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Ask active managers to</a:t>
            </a:r>
          </a:p>
          <a:p xmlns:a="http://schemas.openxmlformats.org/drawingml/2006/main">
            <a:pPr algn="l">
              <a:defRPr sz="1650" b="0">
                <a:solidFill>
                  <a:srgbClr val="566B60"/>
                </a:solidFill>
                <a:latin typeface="Arial"/>
                <a:ea typeface="Arial"/>
                <a:cs typeface="Arial"/>
              </a:defRPr>
            </a:pPr>
            <a:r>
              <a:rPr sz="1650" b="0">
                <a:solidFill>
                  <a:srgbClr val="566B60"/>
                </a:solidFill>
                <a:latin typeface="Arial"/>
                <a:ea typeface="Arial"/>
                <a:cs typeface="Arial"/>
              </a:rPr>
              <a:t>introduce another building.</a:t>
            </a:r>
          </a:p>
        </p:txBody>
      </p:sp>
      <p:sp>
        <p:nvSpPr>
          <p:cNvPr id="19" name="pilot-goal-divider">
            <a:extLst xmlns:a="http://schemas.openxmlformats.org/drawingml/2006/main">
              <a:ext uri="{FF2B5EF4-FFF2-40B4-BE49-F238E27FC236}">
                <a16:creationId xmlns:a16="http://schemas.microsoft.com/office/drawing/2014/main" id="{5EDC56BD-3CDA-40CA-ABD8-0D1EC06FA631}"/>
              </a:ext>
            </a:extLst>
          </p:cNvPr>
          <p:cNvSpPr>
            <a:spLocks xmlns:a="http://schemas.openxmlformats.org/drawingml/2006/main" noGrp="1"/>
          </p:cNvSpPr>
          <p:nvPr/>
        </p:nvSpPr>
        <p:spPr>
          <a:xfrm xmlns:a="http://schemas.openxmlformats.org/drawingml/2006/main">
            <a:off x="609600" y="5600700"/>
            <a:ext cx="1097280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20" name="Pilot goal: complete one dues cycle and one approved expense.">
            <a:extLst xmlns:a="http://schemas.openxmlformats.org/drawingml/2006/main">
              <a:ext uri="{FF2B5EF4-FFF2-40B4-BE49-F238E27FC236}">
                <a16:creationId xmlns:a16="http://schemas.microsoft.com/office/drawing/2014/main" id="{2DDAA602-6205-4244-B4EA-87CECAAB2791}"/>
              </a:ext>
            </a:extLst>
          </p:cNvPr>
          <p:cNvSpPr>
            <a:spLocks xmlns:a="http://schemas.openxmlformats.org/drawingml/2006/main" noGrp="1"/>
          </p:cNvSpPr>
          <p:nvPr/>
        </p:nvSpPr>
        <p:spPr>
          <a:xfrm xmlns:a="http://schemas.openxmlformats.org/drawingml/2006/main">
            <a:off x="609600" y="5781675"/>
            <a:ext cx="1093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6B58"/>
                </a:solidFill>
                <a:latin typeface="Arial"/>
                <a:ea typeface="Arial"/>
                <a:cs typeface="Arial"/>
              </a:defRPr>
            </a:pPr>
            <a:r>
              <a:rPr sz="1875" b="1">
                <a:solidFill>
                  <a:srgbClr val="176B58"/>
                </a:solidFill>
                <a:latin typeface="Arial"/>
                <a:ea typeface="Arial"/>
                <a:cs typeface="Arial"/>
              </a:rPr>
              <a:t>Pilot goal: complete one dues cycle and one approved expense.</a:t>
            </a:r>
          </a:p>
        </p:txBody>
      </p:sp>
      <p:sp>
        <p:nvSpPr>
          <p:cNvPr id="21" name="Planned Testnet pilots">
            <a:extLst xmlns:a="http://schemas.openxmlformats.org/drawingml/2006/main">
              <a:ext uri="{FF2B5EF4-FFF2-40B4-BE49-F238E27FC236}">
                <a16:creationId xmlns:a16="http://schemas.microsoft.com/office/drawing/2014/main" id="{09CECC13-7117-4EF5-AC80-39CC4AEF6401}"/>
              </a:ext>
            </a:extLst>
          </p:cNvPr>
          <p:cNvSpPr>
            <a:spLocks xmlns:a="http://schemas.openxmlformats.org/drawingml/2006/main" noGrp="1"/>
          </p:cNvSpPr>
          <p:nvPr/>
        </p:nvSpPr>
        <p:spPr>
          <a:xfrm xmlns:a="http://schemas.openxmlformats.org/drawingml/2006/main">
            <a:off x="609600" y="6210300"/>
            <a:ext cx="581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66B60"/>
                </a:solidFill>
                <a:latin typeface="Arial"/>
                <a:ea typeface="Arial"/>
                <a:cs typeface="Arial"/>
              </a:defRPr>
            </a:pPr>
            <a:r>
              <a:rPr sz="1350" b="0">
                <a:solidFill>
                  <a:srgbClr val="566B60"/>
                </a:solidFill>
                <a:latin typeface="Arial"/>
                <a:ea typeface="Arial"/>
                <a:cs typeface="Arial"/>
              </a:rPr>
              <a:t>Planned Testnet pilots</a:t>
            </a:r>
          </a:p>
        </p:txBody>
      </p:sp>
    </p:spTree>
    <p:extLst>
      <p:ext uri="{BB962C8B-B14F-4D97-AF65-F5344CB8AC3E}">
        <p14:creationId xmlns:p14="http://schemas.microsoft.com/office/powerpoint/2010/main" val="1872015669"/>
      </p:ext>
    </p:extLst>
  </p:cSld>
</p:sld>
</file>

<file path=ppt/slides/slide7.xml><?xml version="1.0" encoding="utf-8"?>
<p:sld xmlns:p="http://schemas.openxmlformats.org/presentationml/2006/main">
  <p:cSld>
    <p:bg>
      <p:bgPr>
        <a:solidFill xmlns:a="http://schemas.openxmlformats.org/drawingml/2006/main">
          <a:srgbClr val="122B23"/>
        </a:solidFill>
      </p:bgPr>
    </p:bg>
    <p:spTree>
      <p:nvGrpSpPr>
        <p:cNvPr id="1" name=""/>
        <p:cNvGrpSpPr/>
        <p:nvPr/>
      </p:nvGrpSpPr>
      <p:grpSpPr>
        <a:xfrm xmlns:a="http://schemas.openxmlformats.org/drawingml/2006/main"/>
      </p:grpSpPr>
      <p:sp>
        <p:nvSpPr>
          <p:cNvPr id="17" name="THE TEAM / LIVE DEMO">
            <a:extLst xmlns:a="http://schemas.openxmlformats.org/drawingml/2006/main">
              <a:ext uri="{FF2B5EF4-FFF2-40B4-BE49-F238E27FC236}">
                <a16:creationId xmlns:a16="http://schemas.microsoft.com/office/drawing/2014/main" id="{0DB36F1B-E5B7-4692-9296-8F77BC3BAB41}"/>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C5E5CC"/>
                </a:solidFill>
                <a:latin typeface="Arial"/>
                <a:ea typeface="Arial"/>
                <a:cs typeface="Arial"/>
              </a:defRPr>
            </a:pPr>
            <a:r>
              <a:rPr sz="1275" b="1">
                <a:solidFill>
                  <a:srgbClr val="C5E5CC"/>
                </a:solidFill>
                <a:latin typeface="Arial"/>
                <a:ea typeface="Arial"/>
                <a:cs typeface="Arial"/>
              </a:rPr>
              <a:t>THE TEAM / LIVE DEMO</a:t>
            </a:r>
          </a:p>
        </p:txBody>
      </p:sp>
      <p:sp>
        <p:nvSpPr>
          <p:cNvPr id="2" name="duly">
            <a:extLst xmlns:a="http://schemas.openxmlformats.org/drawingml/2006/main">
              <a:ext uri="{FF2B5EF4-FFF2-40B4-BE49-F238E27FC236}">
                <a16:creationId xmlns:a16="http://schemas.microsoft.com/office/drawing/2014/main" id="{F0364BDC-0A8C-4218-A18E-D86335BA51ED}"/>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C5E5CC"/>
                </a:solidFill>
                <a:latin typeface="Arial"/>
                <a:ea typeface="Arial"/>
                <a:cs typeface="Arial"/>
              </a:defRPr>
            </a:pPr>
            <a:r>
              <a:rPr sz="1500" b="1">
                <a:solidFill>
                  <a:srgbClr val="C5E5CC"/>
                </a:solidFill>
                <a:latin typeface="Arial"/>
                <a:ea typeface="Arial"/>
                <a:cs typeface="Arial"/>
              </a:rPr>
              <a:t>duly</a:t>
            </a:r>
          </a:p>
        </p:txBody>
      </p:sp>
      <p:sp>
        <p:nvSpPr>
          <p:cNvPr id="3" name="06">
            <a:extLst xmlns:a="http://schemas.openxmlformats.org/drawingml/2006/main">
              <a:ext uri="{FF2B5EF4-FFF2-40B4-BE49-F238E27FC236}">
                <a16:creationId xmlns:a16="http://schemas.microsoft.com/office/drawing/2014/main" id="{6F8B5D2B-AD48-4E80-81D1-510CC4D4EC0D}"/>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90AFA0"/>
                </a:solidFill>
                <a:latin typeface="Arial"/>
                <a:ea typeface="Arial"/>
                <a:cs typeface="Arial"/>
              </a:defRPr>
            </a:pPr>
            <a:r>
              <a:rPr sz="1275" b="0">
                <a:solidFill>
                  <a:srgbClr val="90AFA0"/>
                </a:solidFill>
                <a:latin typeface="Arial"/>
                <a:ea typeface="Arial"/>
                <a:cs typeface="Arial"/>
              </a:rPr>
              <a:t>07</a:t>
            </a:r>
          </a:p>
        </p:txBody>
      </p:sp>
      <p:sp>
        <p:nvSpPr>
          <p:cNvPr id="4" name="Let’s run a building&#10;together">
            <a:extLst xmlns:a="http://schemas.openxmlformats.org/drawingml/2006/main">
              <a:ext uri="{FF2B5EF4-FFF2-40B4-BE49-F238E27FC236}">
                <a16:creationId xmlns:a16="http://schemas.microsoft.com/office/drawing/2014/main" id="{E0C72B93-2A93-4A4B-BB56-749C51EBC006}"/>
              </a:ext>
            </a:extLst>
          </p:cNvPr>
          <p:cNvSpPr>
            <a:spLocks xmlns:a="http://schemas.openxmlformats.org/drawingml/2006/main" noGrp="1"/>
          </p:cNvSpPr>
          <p:nvPr/>
        </p:nvSpPr>
        <p:spPr>
          <a:xfrm xmlns:a="http://schemas.openxmlformats.org/drawingml/2006/main">
            <a:off x="609600" y="942975"/>
            <a:ext cx="107632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725" b="1">
                <a:solidFill>
                  <a:srgbClr val="FCFDFB"/>
                </a:solidFill>
                <a:latin typeface="Arial"/>
                <a:ea typeface="Arial"/>
                <a:cs typeface="Arial"/>
              </a:defRPr>
            </a:pPr>
            <a:r>
              <a:rPr sz="4725" b="1">
                <a:solidFill>
                  <a:srgbClr val="FCFDFB"/>
                </a:solidFill>
                <a:latin typeface="Arial"/>
                <a:ea typeface="Arial"/>
                <a:cs typeface="Arial"/>
              </a:rPr>
              <a:t>Let’s run a building</a:t>
            </a:r>
          </a:p>
          <a:p xmlns:a="http://schemas.openxmlformats.org/drawingml/2006/main">
            <a:pPr algn="l">
              <a:buNone/>
              <a:defRPr sz="4725" b="1">
                <a:solidFill>
                  <a:srgbClr val="FCFDFB"/>
                </a:solidFill>
                <a:latin typeface="Arial"/>
                <a:ea typeface="Arial"/>
                <a:cs typeface="Arial"/>
              </a:defRPr>
            </a:pPr>
            <a:r>
              <a:rPr sz="4725" b="1">
                <a:solidFill>
                  <a:srgbClr val="FCFDFB"/>
                </a:solidFill>
                <a:latin typeface="Arial"/>
                <a:ea typeface="Arial"/>
                <a:cs typeface="Arial"/>
              </a:rPr>
              <a:t>together</a:t>
            </a:r>
          </a:p>
        </p:txBody>
      </p:sp>
      <p:sp>
        <p:nvSpPr>
          <p:cNvPr id="5" name="I will be the manager.">
            <a:extLst xmlns:a="http://schemas.openxmlformats.org/drawingml/2006/main">
              <a:ext uri="{FF2B5EF4-FFF2-40B4-BE49-F238E27FC236}">
                <a16:creationId xmlns:a16="http://schemas.microsoft.com/office/drawing/2014/main" id="{E18342A9-2F02-4183-A9C2-5DBFD884E424}"/>
              </a:ext>
            </a:extLst>
          </p:cNvPr>
          <p:cNvSpPr>
            <a:spLocks xmlns:a="http://schemas.openxmlformats.org/drawingml/2006/main" noGrp="1"/>
          </p:cNvSpPr>
          <p:nvPr/>
        </p:nvSpPr>
        <p:spPr>
          <a:xfrm xmlns:a="http://schemas.openxmlformats.org/drawingml/2006/main">
            <a:off x="638175" y="303847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FCFDFB"/>
                </a:solidFill>
                <a:latin typeface="Arial"/>
                <a:ea typeface="Arial"/>
                <a:cs typeface="Arial"/>
              </a:defRPr>
            </a:pPr>
            <a:r>
              <a:rPr sz="2775" b="1">
                <a:solidFill>
                  <a:srgbClr val="FCFDFB"/>
                </a:solidFill>
                <a:latin typeface="Arial"/>
                <a:ea typeface="Arial"/>
                <a:cs typeface="Arial"/>
              </a:rPr>
              <a:t>I will be the manager.</a:t>
            </a:r>
          </a:p>
        </p:txBody>
      </p:sp>
      <p:sp>
        <p:nvSpPr>
          <p:cNvPr id="6" name="You are the residents.">
            <a:extLst xmlns:a="http://schemas.openxmlformats.org/drawingml/2006/main">
              <a:ext uri="{FF2B5EF4-FFF2-40B4-BE49-F238E27FC236}">
                <a16:creationId xmlns:a16="http://schemas.microsoft.com/office/drawing/2014/main" id="{1AA04655-6557-49AA-BFDF-55842054F25C}"/>
              </a:ext>
            </a:extLst>
          </p:cNvPr>
          <p:cNvSpPr>
            <a:spLocks xmlns:a="http://schemas.openxmlformats.org/drawingml/2006/main" noGrp="1"/>
          </p:cNvSpPr>
          <p:nvPr/>
        </p:nvSpPr>
        <p:spPr>
          <a:xfrm xmlns:a="http://schemas.openxmlformats.org/drawingml/2006/main">
            <a:off x="638175" y="38195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0">
                <a:solidFill>
                  <a:srgbClr val="C5E5CC"/>
                </a:solidFill>
                <a:latin typeface="Arial"/>
                <a:ea typeface="Arial"/>
                <a:cs typeface="Arial"/>
              </a:defRPr>
            </a:pPr>
            <a:r>
              <a:rPr sz="2775" b="0">
                <a:solidFill>
                  <a:srgbClr val="C5E5CC"/>
                </a:solidFill>
                <a:latin typeface="Arial"/>
                <a:ea typeface="Arial"/>
                <a:cs typeface="Arial"/>
              </a:rPr>
              <a:t>You are the residents.</a:t>
            </a:r>
          </a:p>
        </p:txBody>
      </p:sp>
      <p:sp>
        <p:nvSpPr>
          <p:cNvPr id="7" name="One shared building.&#10;Your own accounts.">
            <a:extLst xmlns:a="http://schemas.openxmlformats.org/drawingml/2006/main">
              <a:ext uri="{FF2B5EF4-FFF2-40B4-BE49-F238E27FC236}">
                <a16:creationId xmlns:a16="http://schemas.microsoft.com/office/drawing/2014/main" id="{115E4BFE-C307-4BC9-85C1-F290EFD3B71A}"/>
              </a:ext>
            </a:extLst>
          </p:cNvPr>
          <p:cNvSpPr>
            <a:spLocks xmlns:a="http://schemas.openxmlformats.org/drawingml/2006/main" noGrp="1"/>
          </p:cNvSpPr>
          <p:nvPr/>
        </p:nvSpPr>
        <p:spPr>
          <a:xfrm xmlns:a="http://schemas.openxmlformats.org/drawingml/2006/main">
            <a:off x="657225" y="4800600"/>
            <a:ext cx="5905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C5E5CC"/>
                </a:solidFill>
                <a:latin typeface="Arial"/>
                <a:ea typeface="Arial"/>
                <a:cs typeface="Arial"/>
              </a:defRPr>
            </a:pPr>
            <a:r>
              <a:rPr sz="2100" b="0">
                <a:solidFill>
                  <a:srgbClr val="C5E5CC"/>
                </a:solidFill>
                <a:latin typeface="Arial"/>
                <a:ea typeface="Arial"/>
                <a:cs typeface="Arial"/>
              </a:rPr>
              <a:t>One shared building.</a:t>
            </a:r>
          </a:p>
          <a:p xmlns:a="http://schemas.openxmlformats.org/drawingml/2006/main">
            <a:pPr algn="l">
              <a:buNone/>
              <a:defRPr sz="2100" b="0">
                <a:solidFill>
                  <a:srgbClr val="C5E5CC"/>
                </a:solidFill>
                <a:latin typeface="Arial"/>
                <a:ea typeface="Arial"/>
                <a:cs typeface="Arial"/>
              </a:defRPr>
            </a:pPr>
            <a:r>
              <a:rPr sz="2100" b="0">
                <a:solidFill>
                  <a:srgbClr val="C5E5CC"/>
                </a:solidFill>
                <a:latin typeface="Arial"/>
                <a:ea typeface="Arial"/>
                <a:cs typeface="Arial"/>
              </a:rPr>
              <a:t>Your own accounts.</a:t>
            </a:r>
          </a:p>
        </p:txBody>
      </p:sp>
      <p:sp>
        <p:nvSpPr>
          <p:cNvPr id="8" name="shape">
            <a:extLst xmlns:a="http://schemas.openxmlformats.org/drawingml/2006/main">
              <a:ext uri="{FF2B5EF4-FFF2-40B4-BE49-F238E27FC236}">
                <a16:creationId xmlns:a16="http://schemas.microsoft.com/office/drawing/2014/main" id="{819AC96D-C36A-4244-9BE2-F4E2E0C2FC10}"/>
              </a:ext>
            </a:extLst>
          </p:cNvPr>
          <p:cNvSpPr>
            <a:spLocks xmlns:a="http://schemas.openxmlformats.org/drawingml/2006/main" noGrp="1"/>
          </p:cNvSpPr>
          <p:nvPr/>
        </p:nvSpPr>
        <p:spPr>
          <a:xfrm xmlns:a="http://schemas.openxmlformats.org/drawingml/2006/main">
            <a:off x="7077075" y="2924175"/>
            <a:ext cx="19050" cy="2752725"/>
          </a:xfrm>
          <a:prstGeom xmlns:a="http://schemas.openxmlformats.org/drawingml/2006/main" prst="rect">
            <a:avLst/>
          </a:prstGeom>
          <a:solidFill xmlns:a="http://schemas.openxmlformats.org/drawingml/2006/main">
            <a:srgbClr val="375B4A"/>
          </a:solidFill>
          <a:ln xmlns:a="http://schemas.openxmlformats.org/drawingml/2006/main" w="0">
            <a:noFill/>
          </a:ln>
        </p:spPr>
      </p:sp>
      <p:sp>
        <p:nvSpPr>
          <p:cNvPr id="9" name="01">
            <a:extLst xmlns:a="http://schemas.openxmlformats.org/drawingml/2006/main">
              <a:ext uri="{FF2B5EF4-FFF2-40B4-BE49-F238E27FC236}">
                <a16:creationId xmlns:a16="http://schemas.microsoft.com/office/drawing/2014/main" id="{02E31C1F-5CBA-46A8-8565-F21E2EE87654}"/>
              </a:ext>
            </a:extLst>
          </p:cNvPr>
          <p:cNvSpPr>
            <a:spLocks xmlns:a="http://schemas.openxmlformats.org/drawingml/2006/main" noGrp="1"/>
          </p:cNvSpPr>
          <p:nvPr/>
        </p:nvSpPr>
        <p:spPr>
          <a:xfrm xmlns:a="http://schemas.openxmlformats.org/drawingml/2006/main">
            <a:off x="7620000" y="3105150"/>
            <a:ext cx="5810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5E5CC"/>
                </a:solidFill>
                <a:latin typeface="Arial"/>
                <a:ea typeface="Arial"/>
                <a:cs typeface="Arial"/>
              </a:defRPr>
            </a:pPr>
            <a:r>
              <a:rPr sz="1650" b="0">
                <a:solidFill>
                  <a:srgbClr val="C5E5CC"/>
                </a:solidFill>
                <a:latin typeface="Arial"/>
                <a:ea typeface="Arial"/>
                <a:cs typeface="Arial"/>
              </a:rPr>
              <a:t>01</a:t>
            </a:r>
          </a:p>
        </p:txBody>
      </p:sp>
      <p:sp>
        <p:nvSpPr>
          <p:cNvPr id="10" name="Pay test dues">
            <a:extLst xmlns:a="http://schemas.openxmlformats.org/drawingml/2006/main">
              <a:ext uri="{FF2B5EF4-FFF2-40B4-BE49-F238E27FC236}">
                <a16:creationId xmlns:a16="http://schemas.microsoft.com/office/drawing/2014/main" id="{5AC302EE-37BD-4202-81DE-0EDE15D0891C}"/>
              </a:ext>
            </a:extLst>
          </p:cNvPr>
          <p:cNvSpPr>
            <a:spLocks xmlns:a="http://schemas.openxmlformats.org/drawingml/2006/main" noGrp="1"/>
          </p:cNvSpPr>
          <p:nvPr/>
        </p:nvSpPr>
        <p:spPr>
          <a:xfrm xmlns:a="http://schemas.openxmlformats.org/drawingml/2006/main">
            <a:off x="8324850" y="3067050"/>
            <a:ext cx="325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CFDFB"/>
                </a:solidFill>
                <a:latin typeface="Arial"/>
                <a:ea typeface="Arial"/>
                <a:cs typeface="Arial"/>
              </a:defRPr>
            </a:pPr>
            <a:r>
              <a:rPr sz="2250" b="1">
                <a:solidFill>
                  <a:srgbClr val="FCFDFB"/>
                </a:solidFill>
                <a:latin typeface="Arial"/>
                <a:ea typeface="Arial"/>
                <a:cs typeface="Arial"/>
              </a:rPr>
              <a:t>Pay test dues</a:t>
            </a:r>
          </a:p>
        </p:txBody>
      </p:sp>
      <p:sp>
        <p:nvSpPr>
          <p:cNvPr id="11" name="02">
            <a:extLst xmlns:a="http://schemas.openxmlformats.org/drawingml/2006/main">
              <a:ext uri="{FF2B5EF4-FFF2-40B4-BE49-F238E27FC236}">
                <a16:creationId xmlns:a16="http://schemas.microsoft.com/office/drawing/2014/main" id="{17351D1C-3CF0-4D4A-8557-4D28A56FCEE0}"/>
              </a:ext>
            </a:extLst>
          </p:cNvPr>
          <p:cNvSpPr>
            <a:spLocks xmlns:a="http://schemas.openxmlformats.org/drawingml/2006/main" noGrp="1"/>
          </p:cNvSpPr>
          <p:nvPr/>
        </p:nvSpPr>
        <p:spPr>
          <a:xfrm xmlns:a="http://schemas.openxmlformats.org/drawingml/2006/main">
            <a:off x="7620000" y="4086225"/>
            <a:ext cx="5810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5E5CC"/>
                </a:solidFill>
                <a:latin typeface="Arial"/>
                <a:ea typeface="Arial"/>
                <a:cs typeface="Arial"/>
              </a:defRPr>
            </a:pPr>
            <a:r>
              <a:rPr sz="1650" b="0">
                <a:solidFill>
                  <a:srgbClr val="C5E5CC"/>
                </a:solidFill>
                <a:latin typeface="Arial"/>
                <a:ea typeface="Arial"/>
                <a:cs typeface="Arial"/>
              </a:rPr>
              <a:t>02</a:t>
            </a:r>
          </a:p>
        </p:txBody>
      </p:sp>
      <p:sp>
        <p:nvSpPr>
          <p:cNvPr id="12" name="Vote on a repair">
            <a:extLst xmlns:a="http://schemas.openxmlformats.org/drawingml/2006/main">
              <a:ext uri="{FF2B5EF4-FFF2-40B4-BE49-F238E27FC236}">
                <a16:creationId xmlns:a16="http://schemas.microsoft.com/office/drawing/2014/main" id="{89BB6548-D1B4-4E8D-BC0E-B12199C7E582}"/>
              </a:ext>
            </a:extLst>
          </p:cNvPr>
          <p:cNvSpPr>
            <a:spLocks xmlns:a="http://schemas.openxmlformats.org/drawingml/2006/main" noGrp="1"/>
          </p:cNvSpPr>
          <p:nvPr/>
        </p:nvSpPr>
        <p:spPr>
          <a:xfrm xmlns:a="http://schemas.openxmlformats.org/drawingml/2006/main">
            <a:off x="8324850" y="4048125"/>
            <a:ext cx="325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CFDFB"/>
                </a:solidFill>
                <a:latin typeface="Arial"/>
                <a:ea typeface="Arial"/>
                <a:cs typeface="Arial"/>
              </a:defRPr>
            </a:pPr>
            <a:r>
              <a:rPr sz="2250" b="1">
                <a:solidFill>
                  <a:srgbClr val="FCFDFB"/>
                </a:solidFill>
                <a:latin typeface="Arial"/>
                <a:ea typeface="Arial"/>
                <a:cs typeface="Arial"/>
              </a:rPr>
              <a:t>Vote on a repair</a:t>
            </a:r>
          </a:p>
        </p:txBody>
      </p:sp>
      <p:sp>
        <p:nvSpPr>
          <p:cNvPr id="13" name="03">
            <a:extLst xmlns:a="http://schemas.openxmlformats.org/drawingml/2006/main">
              <a:ext uri="{FF2B5EF4-FFF2-40B4-BE49-F238E27FC236}">
                <a16:creationId xmlns:a16="http://schemas.microsoft.com/office/drawing/2014/main" id="{F6BA68F5-B6EF-45E9-9A24-4F7A5877CEF2}"/>
              </a:ext>
            </a:extLst>
          </p:cNvPr>
          <p:cNvSpPr>
            <a:spLocks xmlns:a="http://schemas.openxmlformats.org/drawingml/2006/main" noGrp="1"/>
          </p:cNvSpPr>
          <p:nvPr/>
        </p:nvSpPr>
        <p:spPr>
          <a:xfrm xmlns:a="http://schemas.openxmlformats.org/drawingml/2006/main">
            <a:off x="7620000" y="5067300"/>
            <a:ext cx="5810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5E5CC"/>
                </a:solidFill>
                <a:latin typeface="Arial"/>
                <a:ea typeface="Arial"/>
                <a:cs typeface="Arial"/>
              </a:defRPr>
            </a:pPr>
            <a:r>
              <a:rPr sz="1650" b="0">
                <a:solidFill>
                  <a:srgbClr val="C5E5CC"/>
                </a:solidFill>
                <a:latin typeface="Arial"/>
                <a:ea typeface="Arial"/>
                <a:cs typeface="Arial"/>
              </a:rPr>
              <a:t>03</a:t>
            </a:r>
          </a:p>
        </p:txBody>
      </p:sp>
      <p:sp>
        <p:nvSpPr>
          <p:cNvPr id="14" name="See the result">
            <a:extLst xmlns:a="http://schemas.openxmlformats.org/drawingml/2006/main">
              <a:ext uri="{FF2B5EF4-FFF2-40B4-BE49-F238E27FC236}">
                <a16:creationId xmlns:a16="http://schemas.microsoft.com/office/drawing/2014/main" id="{3D8B02EA-E073-406E-BA05-8915A5EEB6AB}"/>
              </a:ext>
            </a:extLst>
          </p:cNvPr>
          <p:cNvSpPr>
            <a:spLocks xmlns:a="http://schemas.openxmlformats.org/drawingml/2006/main" noGrp="1"/>
          </p:cNvSpPr>
          <p:nvPr/>
        </p:nvSpPr>
        <p:spPr>
          <a:xfrm xmlns:a="http://schemas.openxmlformats.org/drawingml/2006/main">
            <a:off x="8324850" y="5029200"/>
            <a:ext cx="32575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FCFDFB"/>
                </a:solidFill>
                <a:latin typeface="Arial"/>
                <a:ea typeface="Arial"/>
                <a:cs typeface="Arial"/>
              </a:defRPr>
            </a:pPr>
            <a:r>
              <a:rPr sz="2250" b="1">
                <a:solidFill>
                  <a:srgbClr val="FCFDFB"/>
                </a:solidFill>
                <a:latin typeface="Arial"/>
                <a:ea typeface="Arial"/>
                <a:cs typeface="Arial"/>
              </a:rPr>
              <a:t>See the result</a:t>
            </a:r>
          </a:p>
        </p:txBody>
      </p:sp>
      <p:sp>
        <p:nvSpPr>
          <p:cNvPr id="15" name="Stellar Testnet. Test funds only.">
            <a:extLst xmlns:a="http://schemas.openxmlformats.org/drawingml/2006/main">
              <a:ext uri="{FF2B5EF4-FFF2-40B4-BE49-F238E27FC236}">
                <a16:creationId xmlns:a16="http://schemas.microsoft.com/office/drawing/2014/main" id="{EB0B3BD7-6A6E-47C4-947C-E84AFAEAEE7A}"/>
              </a:ext>
            </a:extLst>
          </p:cNvPr>
          <p:cNvSpPr>
            <a:spLocks xmlns:a="http://schemas.openxmlformats.org/drawingml/2006/main" noGrp="1"/>
          </p:cNvSpPr>
          <p:nvPr/>
        </p:nvSpPr>
        <p:spPr>
          <a:xfrm xmlns:a="http://schemas.openxmlformats.org/drawingml/2006/main">
            <a:off x="647700" y="5867400"/>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C5E5CC"/>
                </a:solidFill>
                <a:latin typeface="Arial"/>
                <a:ea typeface="Arial"/>
                <a:cs typeface="Arial"/>
              </a:defRPr>
            </a:pPr>
            <a:r>
              <a:rPr sz="1650" b="0">
                <a:solidFill>
                  <a:srgbClr val="C5E5CC"/>
                </a:solidFill>
                <a:latin typeface="Arial"/>
                <a:ea typeface="Arial"/>
                <a:cs typeface="Arial"/>
              </a:rPr>
              <a:t>Stellar Testnet. Test funds only.</a:t>
            </a:r>
          </a:p>
        </p:txBody>
      </p:sp>
      <p:sp>
        <p:nvSpPr>
          <p:cNvPr id="16" name="duly-sepia.vercel.app">
            <a:extLst xmlns:a="http://schemas.openxmlformats.org/drawingml/2006/main">
              <a:ext uri="{FF2B5EF4-FFF2-40B4-BE49-F238E27FC236}">
                <a16:creationId xmlns:a16="http://schemas.microsoft.com/office/drawing/2014/main" id="{92EFE576-0E52-4FB7-A211-E87D8AD13F8E}"/>
              </a:ext>
            </a:extLst>
          </p:cNvPr>
          <p:cNvSpPr>
            <a:spLocks xmlns:a="http://schemas.openxmlformats.org/drawingml/2006/main" noGrp="1"/>
          </p:cNvSpPr>
          <p:nvPr/>
        </p:nvSpPr>
        <p:spPr>
          <a:xfrm xmlns:a="http://schemas.openxmlformats.org/drawingml/2006/main">
            <a:off x="8467725" y="5915025"/>
            <a:ext cx="3076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425" b="0">
                <a:solidFill>
                  <a:srgbClr val="C5E5CC"/>
                </a:solidFill>
                <a:latin typeface="Arial"/>
                <a:ea typeface="Arial"/>
                <a:cs typeface="Arial"/>
              </a:defRPr>
            </a:pPr>
            <a:r>
              <a:rPr sz="1425" b="0">
                <a:solidFill>
                  <a:srgbClr val="C5E5CC"/>
                </a:solidFill>
                <a:latin typeface="Arial"/>
                <a:ea typeface="Arial"/>
                <a:cs typeface="Arial"/>
                <a:hlinkClick xmlns:r="http://schemas.openxmlformats.org/officeDocument/2006/relationships" r:id="Rfaf8a633e540422d"/>
              </a:rPr>
              <a:t>duly-sepia.vercel.app</a:t>
            </a:r>
          </a:p>
        </p:txBody>
      </p:sp>
    </p:spTree>
    <p:extLst>
      <p:ext uri="{BB962C8B-B14F-4D97-AF65-F5344CB8AC3E}">
        <p14:creationId xmlns:p14="http://schemas.microsoft.com/office/powerpoint/2010/main" val="400421290"/>
      </p:ext>
    </p:extLst>
  </p:cSld>
</p:sld>
</file>

<file path=ppt/slides/slide8.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21" name="APPENDIX / ARCHITECTURE">
            <a:extLst xmlns:a="http://schemas.openxmlformats.org/drawingml/2006/main">
              <a:ext uri="{FF2B5EF4-FFF2-40B4-BE49-F238E27FC236}">
                <a16:creationId xmlns:a16="http://schemas.microsoft.com/office/drawing/2014/main" id="{04ADCAF0-75BE-4ACF-BB9B-4A43E80F30A1}"/>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176B58"/>
                </a:solidFill>
                <a:latin typeface="Arial"/>
                <a:ea typeface="Arial"/>
                <a:cs typeface="Arial"/>
              </a:defRPr>
            </a:pPr>
            <a:r>
              <a:rPr sz="1275" b="1">
                <a:solidFill>
                  <a:srgbClr val="176B58"/>
                </a:solidFill>
                <a:latin typeface="Arial"/>
                <a:ea typeface="Arial"/>
                <a:cs typeface="Arial"/>
              </a:rPr>
              <a:t>APPENDIX / ARCHITECTURE</a:t>
            </a:r>
          </a:p>
        </p:txBody>
      </p:sp>
      <p:sp>
        <p:nvSpPr>
          <p:cNvPr id="2" name="duly">
            <a:extLst xmlns:a="http://schemas.openxmlformats.org/drawingml/2006/main">
              <a:ext uri="{FF2B5EF4-FFF2-40B4-BE49-F238E27FC236}">
                <a16:creationId xmlns:a16="http://schemas.microsoft.com/office/drawing/2014/main" id="{767F9926-6807-402F-9939-A68F12DF153C}"/>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76B58"/>
                </a:solidFill>
                <a:latin typeface="Arial"/>
                <a:ea typeface="Arial"/>
                <a:cs typeface="Arial"/>
              </a:defRPr>
            </a:pPr>
            <a:r>
              <a:rPr sz="1500" b="1">
                <a:solidFill>
                  <a:srgbClr val="176B58"/>
                </a:solidFill>
                <a:latin typeface="Arial"/>
                <a:ea typeface="Arial"/>
                <a:cs typeface="Arial"/>
              </a:rPr>
              <a:t>duly</a:t>
            </a:r>
          </a:p>
        </p:txBody>
      </p:sp>
      <p:sp>
        <p:nvSpPr>
          <p:cNvPr id="3" name="07">
            <a:extLst xmlns:a="http://schemas.openxmlformats.org/drawingml/2006/main">
              <a:ext uri="{FF2B5EF4-FFF2-40B4-BE49-F238E27FC236}">
                <a16:creationId xmlns:a16="http://schemas.microsoft.com/office/drawing/2014/main" id="{9F417B4C-96C1-46D6-A799-F766AEAF5C68}"/>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B60"/>
                </a:solidFill>
                <a:latin typeface="Arial"/>
                <a:ea typeface="Arial"/>
                <a:cs typeface="Arial"/>
              </a:defRPr>
            </a:pPr>
            <a:r>
              <a:rPr sz="1275" b="0">
                <a:solidFill>
                  <a:srgbClr val="566B60"/>
                </a:solidFill>
                <a:latin typeface="Arial"/>
                <a:ea typeface="Arial"/>
                <a:cs typeface="Arial"/>
              </a:rPr>
              <a:t>08</a:t>
            </a:r>
          </a:p>
        </p:txBody>
      </p:sp>
      <p:sp>
        <p:nvSpPr>
          <p:cNvPr id="4" name="Where the guarantees stop">
            <a:extLst xmlns:a="http://schemas.openxmlformats.org/drawingml/2006/main">
              <a:ext uri="{FF2B5EF4-FFF2-40B4-BE49-F238E27FC236}">
                <a16:creationId xmlns:a16="http://schemas.microsoft.com/office/drawing/2014/main" id="{515BB986-1098-4BAD-8CD7-90D93B4627ED}"/>
              </a:ext>
            </a:extLst>
          </p:cNvPr>
          <p:cNvSpPr>
            <a:spLocks xmlns:a="http://schemas.openxmlformats.org/drawingml/2006/main" noGrp="1"/>
          </p:cNvSpPr>
          <p:nvPr/>
        </p:nvSpPr>
        <p:spPr>
          <a:xfrm xmlns:a="http://schemas.openxmlformats.org/drawingml/2006/main">
            <a:off x="609600" y="942975"/>
            <a:ext cx="106203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75" b="1">
                <a:solidFill>
                  <a:srgbClr val="19392F"/>
                </a:solidFill>
                <a:latin typeface="Arial"/>
                <a:ea typeface="Arial"/>
                <a:cs typeface="Arial"/>
              </a:defRPr>
            </a:pPr>
            <a:r>
              <a:rPr sz="3975" b="1">
                <a:solidFill>
                  <a:srgbClr val="19392F"/>
                </a:solidFill>
                <a:latin typeface="Arial"/>
                <a:ea typeface="Arial"/>
                <a:cs typeface="Arial"/>
              </a:rPr>
              <a:t>Where the guarantees stop</a:t>
            </a:r>
          </a:p>
        </p:txBody>
      </p:sp>
      <p:sp>
        <p:nvSpPr>
          <p:cNvPr id="5" name="On-chain enforcement">
            <a:extLst xmlns:a="http://schemas.openxmlformats.org/drawingml/2006/main">
              <a:ext uri="{FF2B5EF4-FFF2-40B4-BE49-F238E27FC236}">
                <a16:creationId xmlns:a16="http://schemas.microsoft.com/office/drawing/2014/main" id="{D19BB2BE-3536-40D8-BF19-CF7B1B1A51D5}"/>
              </a:ext>
            </a:extLst>
          </p:cNvPr>
          <p:cNvSpPr>
            <a:spLocks xmlns:a="http://schemas.openxmlformats.org/drawingml/2006/main" noGrp="1"/>
          </p:cNvSpPr>
          <p:nvPr/>
        </p:nvSpPr>
        <p:spPr>
          <a:xfrm xmlns:a="http://schemas.openxmlformats.org/drawingml/2006/main">
            <a:off x="619125" y="22479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9392F"/>
                </a:solidFill>
                <a:latin typeface="Arial"/>
                <a:ea typeface="Arial"/>
                <a:cs typeface="Arial"/>
              </a:defRPr>
            </a:pPr>
            <a:r>
              <a:rPr sz="2100" b="1">
                <a:solidFill>
                  <a:srgbClr val="19392F"/>
                </a:solidFill>
                <a:latin typeface="Arial"/>
                <a:ea typeface="Arial"/>
                <a:cs typeface="Arial"/>
              </a:rPr>
              <a:t>On-chain enforcement</a:t>
            </a:r>
          </a:p>
        </p:txBody>
      </p:sp>
      <p:sp>
        <p:nvSpPr>
          <p:cNvPr id="6" name="shape">
            <a:extLst xmlns:a="http://schemas.openxmlformats.org/drawingml/2006/main">
              <a:ext uri="{FF2B5EF4-FFF2-40B4-BE49-F238E27FC236}">
                <a16:creationId xmlns:a16="http://schemas.microsoft.com/office/drawing/2014/main" id="{0C190A00-CB02-4113-9CBB-88DE18D7E340}"/>
              </a:ext>
            </a:extLst>
          </p:cNvPr>
          <p:cNvSpPr>
            <a:spLocks xmlns:a="http://schemas.openxmlformats.org/drawingml/2006/main" noGrp="1"/>
          </p:cNvSpPr>
          <p:nvPr/>
        </p:nvSpPr>
        <p:spPr>
          <a:xfrm xmlns:a="http://schemas.openxmlformats.org/drawingml/2006/main">
            <a:off x="619125" y="3152775"/>
            <a:ext cx="3305175"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7" name="USDC custody and vault shares">
            <a:extLst xmlns:a="http://schemas.openxmlformats.org/drawingml/2006/main">
              <a:ext uri="{FF2B5EF4-FFF2-40B4-BE49-F238E27FC236}">
                <a16:creationId xmlns:a16="http://schemas.microsoft.com/office/drawing/2014/main" id="{38351214-8586-4BBB-8563-1E773B23825B}"/>
              </a:ext>
            </a:extLst>
          </p:cNvPr>
          <p:cNvSpPr>
            <a:spLocks xmlns:a="http://schemas.openxmlformats.org/drawingml/2006/main" noGrp="1"/>
          </p:cNvSpPr>
          <p:nvPr/>
        </p:nvSpPr>
        <p:spPr>
          <a:xfrm xmlns:a="http://schemas.openxmlformats.org/drawingml/2006/main">
            <a:off x="619125" y="3495675"/>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USDC custody and vault shares</a:t>
            </a:r>
          </a:p>
        </p:txBody>
      </p:sp>
      <p:sp>
        <p:nvSpPr>
          <p:cNvPr id="8" name="Fixed seats and signatures">
            <a:extLst xmlns:a="http://schemas.openxmlformats.org/drawingml/2006/main">
              <a:ext uri="{FF2B5EF4-FFF2-40B4-BE49-F238E27FC236}">
                <a16:creationId xmlns:a16="http://schemas.microsoft.com/office/drawing/2014/main" id="{7E95129A-98A0-457C-96B2-FAA86495AC71}"/>
              </a:ext>
            </a:extLst>
          </p:cNvPr>
          <p:cNvSpPr>
            <a:spLocks xmlns:a="http://schemas.openxmlformats.org/drawingml/2006/main" noGrp="1"/>
          </p:cNvSpPr>
          <p:nvPr/>
        </p:nvSpPr>
        <p:spPr>
          <a:xfrm xmlns:a="http://schemas.openxmlformats.org/drawingml/2006/main">
            <a:off x="619125" y="4191000"/>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Fixed seats and signatures</a:t>
            </a:r>
          </a:p>
        </p:txBody>
      </p:sp>
      <p:sp>
        <p:nvSpPr>
          <p:cNvPr id="9" name="Expense rules and execution">
            <a:extLst xmlns:a="http://schemas.openxmlformats.org/drawingml/2006/main">
              <a:ext uri="{FF2B5EF4-FFF2-40B4-BE49-F238E27FC236}">
                <a16:creationId xmlns:a16="http://schemas.microsoft.com/office/drawing/2014/main" id="{A6B9C46D-984E-4634-86FE-D507C9BFFAA9}"/>
              </a:ext>
            </a:extLst>
          </p:cNvPr>
          <p:cNvSpPr>
            <a:spLocks xmlns:a="http://schemas.openxmlformats.org/drawingml/2006/main" noGrp="1"/>
          </p:cNvSpPr>
          <p:nvPr/>
        </p:nvSpPr>
        <p:spPr>
          <a:xfrm xmlns:a="http://schemas.openxmlformats.org/drawingml/2006/main">
            <a:off x="619125" y="4886325"/>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Expense rules and execution</a:t>
            </a:r>
          </a:p>
        </p:txBody>
      </p:sp>
      <p:sp>
        <p:nvSpPr>
          <p:cNvPr id="10" name="Trusted services">
            <a:extLst xmlns:a="http://schemas.openxmlformats.org/drawingml/2006/main">
              <a:ext uri="{FF2B5EF4-FFF2-40B4-BE49-F238E27FC236}">
                <a16:creationId xmlns:a16="http://schemas.microsoft.com/office/drawing/2014/main" id="{A6A21ED3-D8A1-42F6-934B-2CEEF19C6938}"/>
              </a:ext>
            </a:extLst>
          </p:cNvPr>
          <p:cNvSpPr>
            <a:spLocks xmlns:a="http://schemas.openxmlformats.org/drawingml/2006/main" noGrp="1"/>
          </p:cNvSpPr>
          <p:nvPr/>
        </p:nvSpPr>
        <p:spPr>
          <a:xfrm xmlns:a="http://schemas.openxmlformats.org/drawingml/2006/main">
            <a:off x="4333875" y="22479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9392F"/>
                </a:solidFill>
                <a:latin typeface="Arial"/>
                <a:ea typeface="Arial"/>
                <a:cs typeface="Arial"/>
              </a:defRPr>
            </a:pPr>
            <a:r>
              <a:rPr sz="2100" b="1">
                <a:solidFill>
                  <a:srgbClr val="19392F"/>
                </a:solidFill>
                <a:latin typeface="Arial"/>
                <a:ea typeface="Arial"/>
                <a:cs typeface="Arial"/>
              </a:rPr>
              <a:t>Trusted services</a:t>
            </a:r>
          </a:p>
        </p:txBody>
      </p:sp>
      <p:sp>
        <p:nvSpPr>
          <p:cNvPr id="11" name="shape">
            <a:extLst xmlns:a="http://schemas.openxmlformats.org/drawingml/2006/main">
              <a:ext uri="{FF2B5EF4-FFF2-40B4-BE49-F238E27FC236}">
                <a16:creationId xmlns:a16="http://schemas.microsoft.com/office/drawing/2014/main" id="{128299B4-7A7B-46FC-8C98-569639CF5067}"/>
              </a:ext>
            </a:extLst>
          </p:cNvPr>
          <p:cNvSpPr>
            <a:spLocks xmlns:a="http://schemas.openxmlformats.org/drawingml/2006/main" noGrp="1"/>
          </p:cNvSpPr>
          <p:nvPr/>
        </p:nvSpPr>
        <p:spPr>
          <a:xfrm xmlns:a="http://schemas.openxmlformats.org/drawingml/2006/main">
            <a:off x="4333875" y="3152775"/>
            <a:ext cx="3305175"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2" name="Bank settlement and FX">
            <a:extLst xmlns:a="http://schemas.openxmlformats.org/drawingml/2006/main">
              <a:ext uri="{FF2B5EF4-FFF2-40B4-BE49-F238E27FC236}">
                <a16:creationId xmlns:a16="http://schemas.microsoft.com/office/drawing/2014/main" id="{33C42E3E-AD46-4768-BDEB-EEADE9346114}"/>
              </a:ext>
            </a:extLst>
          </p:cNvPr>
          <p:cNvSpPr>
            <a:spLocks xmlns:a="http://schemas.openxmlformats.org/drawingml/2006/main" noGrp="1"/>
          </p:cNvSpPr>
          <p:nvPr/>
        </p:nvSpPr>
        <p:spPr>
          <a:xfrm xmlns:a="http://schemas.openxmlformats.org/drawingml/2006/main">
            <a:off x="4333875" y="3495675"/>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Bank settlement and FX</a:t>
            </a:r>
          </a:p>
        </p:txBody>
      </p:sp>
      <p:sp>
        <p:nvSpPr>
          <p:cNvPr id="13" name="TRY dues accounting">
            <a:extLst xmlns:a="http://schemas.openxmlformats.org/drawingml/2006/main">
              <a:ext uri="{FF2B5EF4-FFF2-40B4-BE49-F238E27FC236}">
                <a16:creationId xmlns:a16="http://schemas.microsoft.com/office/drawing/2014/main" id="{BD3CD865-B6EC-4D02-9E13-1FE14548E381}"/>
              </a:ext>
            </a:extLst>
          </p:cNvPr>
          <p:cNvSpPr>
            <a:spLocks xmlns:a="http://schemas.openxmlformats.org/drawingml/2006/main" noGrp="1"/>
          </p:cNvSpPr>
          <p:nvPr/>
        </p:nvSpPr>
        <p:spPr>
          <a:xfrm xmlns:a="http://schemas.openxmlformats.org/drawingml/2006/main">
            <a:off x="4333875" y="4191000"/>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TRY dues accounting</a:t>
            </a:r>
          </a:p>
        </p:txBody>
      </p:sp>
      <p:sp>
        <p:nvSpPr>
          <p:cNvPr id="14" name="Scheduling and fee sponsorship">
            <a:extLst xmlns:a="http://schemas.openxmlformats.org/drawingml/2006/main">
              <a:ext uri="{FF2B5EF4-FFF2-40B4-BE49-F238E27FC236}">
                <a16:creationId xmlns:a16="http://schemas.microsoft.com/office/drawing/2014/main" id="{1790B9C7-EE59-42F5-A266-19E07E7A4A79}"/>
              </a:ext>
            </a:extLst>
          </p:cNvPr>
          <p:cNvSpPr>
            <a:spLocks xmlns:a="http://schemas.openxmlformats.org/drawingml/2006/main" noGrp="1"/>
          </p:cNvSpPr>
          <p:nvPr/>
        </p:nvSpPr>
        <p:spPr>
          <a:xfrm xmlns:a="http://schemas.openxmlformats.org/drawingml/2006/main">
            <a:off x="4333875" y="4886325"/>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Scheduling and fee sponsorship</a:t>
            </a:r>
          </a:p>
        </p:txBody>
      </p:sp>
      <p:sp>
        <p:nvSpPr>
          <p:cNvPr id="15" name="Outside the MVP">
            <a:extLst xmlns:a="http://schemas.openxmlformats.org/drawingml/2006/main">
              <a:ext uri="{FF2B5EF4-FFF2-40B4-BE49-F238E27FC236}">
                <a16:creationId xmlns:a16="http://schemas.microsoft.com/office/drawing/2014/main" id="{3E83D340-1C36-40D8-82C6-4684EB093611}"/>
              </a:ext>
            </a:extLst>
          </p:cNvPr>
          <p:cNvSpPr>
            <a:spLocks xmlns:a="http://schemas.openxmlformats.org/drawingml/2006/main" noGrp="1"/>
          </p:cNvSpPr>
          <p:nvPr/>
        </p:nvSpPr>
        <p:spPr>
          <a:xfrm xmlns:a="http://schemas.openxmlformats.org/drawingml/2006/main">
            <a:off x="8048625" y="224790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19392F"/>
                </a:solidFill>
                <a:latin typeface="Arial"/>
                <a:ea typeface="Arial"/>
                <a:cs typeface="Arial"/>
              </a:defRPr>
            </a:pPr>
            <a:r>
              <a:rPr sz="2100" b="1">
                <a:solidFill>
                  <a:srgbClr val="19392F"/>
                </a:solidFill>
                <a:latin typeface="Arial"/>
                <a:ea typeface="Arial"/>
                <a:cs typeface="Arial"/>
              </a:rPr>
              <a:t>Outside the MVP</a:t>
            </a:r>
          </a:p>
        </p:txBody>
      </p:sp>
      <p:sp>
        <p:nvSpPr>
          <p:cNvPr id="16" name="shape">
            <a:extLst xmlns:a="http://schemas.openxmlformats.org/drawingml/2006/main">
              <a:ext uri="{FF2B5EF4-FFF2-40B4-BE49-F238E27FC236}">
                <a16:creationId xmlns:a16="http://schemas.microsoft.com/office/drawing/2014/main" id="{F84602AC-814E-49F1-9831-9A3462EE6DE5}"/>
              </a:ext>
            </a:extLst>
          </p:cNvPr>
          <p:cNvSpPr>
            <a:spLocks xmlns:a="http://schemas.openxmlformats.org/drawingml/2006/main" noGrp="1"/>
          </p:cNvSpPr>
          <p:nvPr/>
        </p:nvSpPr>
        <p:spPr>
          <a:xfrm xmlns:a="http://schemas.openxmlformats.org/drawingml/2006/main">
            <a:off x="8048625" y="3152775"/>
            <a:ext cx="3305175"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7" name="Legal owner identity">
            <a:extLst xmlns:a="http://schemas.openxmlformats.org/drawingml/2006/main">
              <a:ext uri="{FF2B5EF4-FFF2-40B4-BE49-F238E27FC236}">
                <a16:creationId xmlns:a16="http://schemas.microsoft.com/office/drawing/2014/main" id="{01A46709-A121-43E5-A063-3EF1ADFA3F87}"/>
              </a:ext>
            </a:extLst>
          </p:cNvPr>
          <p:cNvSpPr>
            <a:spLocks xmlns:a="http://schemas.openxmlformats.org/drawingml/2006/main" noGrp="1"/>
          </p:cNvSpPr>
          <p:nvPr/>
        </p:nvSpPr>
        <p:spPr>
          <a:xfrm xmlns:a="http://schemas.openxmlformats.org/drawingml/2006/main">
            <a:off x="8048625" y="3495675"/>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Legal owner identity</a:t>
            </a:r>
          </a:p>
        </p:txBody>
      </p:sp>
      <p:sp>
        <p:nvSpPr>
          <p:cNvPr id="18" name="Supplier payment after IBAN payout">
            <a:extLst xmlns:a="http://schemas.openxmlformats.org/drawingml/2006/main">
              <a:ext uri="{FF2B5EF4-FFF2-40B4-BE49-F238E27FC236}">
                <a16:creationId xmlns:a16="http://schemas.microsoft.com/office/drawing/2014/main" id="{2598EA0E-F29C-4F8B-B086-74CA012887A5}"/>
              </a:ext>
            </a:extLst>
          </p:cNvPr>
          <p:cNvSpPr>
            <a:spLocks xmlns:a="http://schemas.openxmlformats.org/drawingml/2006/main" noGrp="1"/>
          </p:cNvSpPr>
          <p:nvPr/>
        </p:nvSpPr>
        <p:spPr>
          <a:xfrm xmlns:a="http://schemas.openxmlformats.org/drawingml/2006/main">
            <a:off x="8048625" y="4191000"/>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Supplier payment after IBAN payout</a:t>
            </a:r>
          </a:p>
        </p:txBody>
      </p:sp>
      <p:sp>
        <p:nvSpPr>
          <p:cNvPr id="19" name="Independent security audit">
            <a:extLst xmlns:a="http://schemas.openxmlformats.org/drawingml/2006/main">
              <a:ext uri="{FF2B5EF4-FFF2-40B4-BE49-F238E27FC236}">
                <a16:creationId xmlns:a16="http://schemas.microsoft.com/office/drawing/2014/main" id="{A432C8CC-BC22-43FD-8FA3-C8E60130DEAD}"/>
              </a:ext>
            </a:extLst>
          </p:cNvPr>
          <p:cNvSpPr>
            <a:spLocks xmlns:a="http://schemas.openxmlformats.org/drawingml/2006/main" noGrp="1"/>
          </p:cNvSpPr>
          <p:nvPr/>
        </p:nvSpPr>
        <p:spPr>
          <a:xfrm xmlns:a="http://schemas.openxmlformats.org/drawingml/2006/main">
            <a:off x="8048625" y="4886325"/>
            <a:ext cx="33051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Independent security audit</a:t>
            </a:r>
          </a:p>
        </p:txBody>
      </p:sp>
      <p:sp>
        <p:nvSpPr>
          <p:cNvPr id="20" name="Bank confirmation is a separate fact from treasury">
            <a:extLst xmlns:a="http://schemas.openxmlformats.org/drawingml/2006/main">
              <a:ext uri="{FF2B5EF4-FFF2-40B4-BE49-F238E27FC236}">
                <a16:creationId xmlns:a16="http://schemas.microsoft.com/office/drawing/2014/main" id="{6849A57C-9479-4872-B5F0-74EE494C5ED0}"/>
              </a:ext>
            </a:extLst>
          </p:cNvPr>
          <p:cNvSpPr>
            <a:spLocks xmlns:a="http://schemas.openxmlformats.org/drawingml/2006/main" noGrp="1"/>
          </p:cNvSpPr>
          <p:nvPr/>
        </p:nvSpPr>
        <p:spPr>
          <a:xfrm xmlns:a="http://schemas.openxmlformats.org/drawingml/2006/main">
            <a:off x="619125" y="585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1">
                <a:solidFill>
                  <a:srgbClr val="176B58"/>
                </a:solidFill>
                <a:latin typeface="Arial"/>
                <a:ea typeface="Arial"/>
                <a:cs typeface="Arial"/>
              </a:defRPr>
            </a:pPr>
            <a:r>
              <a:rPr sz="1800" b="1">
                <a:solidFill>
                  <a:srgbClr val="176B58"/>
                </a:solidFill>
                <a:latin typeface="Arial"/>
                <a:ea typeface="Arial"/>
                <a:cs typeface="Arial"/>
              </a:rPr>
              <a:t>Bank confirmation is a separate fact from treasury disbursement.</a:t>
            </a:r>
          </a:p>
        </p:txBody>
      </p:sp>
    </p:spTree>
    <p:extLst>
      <p:ext uri="{BB962C8B-B14F-4D97-AF65-F5344CB8AC3E}">
        <p14:creationId xmlns:p14="http://schemas.microsoft.com/office/powerpoint/2010/main" val="809087224"/>
      </p:ext>
    </p:extLst>
  </p:cSld>
</p:sld>
</file>

<file path=ppt/slides/slide9.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7" name="APPENDIX / GOVERNANCE">
            <a:extLst xmlns:a="http://schemas.openxmlformats.org/drawingml/2006/main">
              <a:ext uri="{FF2B5EF4-FFF2-40B4-BE49-F238E27FC236}">
                <a16:creationId xmlns:a16="http://schemas.microsoft.com/office/drawing/2014/main" id="{19B19101-ACFF-47AA-BD37-23D78A416661}"/>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176B58"/>
                </a:solidFill>
                <a:latin typeface="Arial"/>
                <a:ea typeface="Arial"/>
                <a:cs typeface="Arial"/>
              </a:defRPr>
            </a:pPr>
            <a:r>
              <a:rPr sz="1275" b="1">
                <a:solidFill>
                  <a:srgbClr val="176B58"/>
                </a:solidFill>
                <a:latin typeface="Arial"/>
                <a:ea typeface="Arial"/>
                <a:cs typeface="Arial"/>
              </a:rPr>
              <a:t>APPENDIX / GOVERNANCE</a:t>
            </a:r>
          </a:p>
        </p:txBody>
      </p:sp>
      <p:sp>
        <p:nvSpPr>
          <p:cNvPr id="2" name="duly">
            <a:extLst xmlns:a="http://schemas.openxmlformats.org/drawingml/2006/main">
              <a:ext uri="{FF2B5EF4-FFF2-40B4-BE49-F238E27FC236}">
                <a16:creationId xmlns:a16="http://schemas.microsoft.com/office/drawing/2014/main" id="{BC5E8E06-329B-4A2E-BC5B-79C51B33809D}"/>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76B58"/>
                </a:solidFill>
                <a:latin typeface="Arial"/>
                <a:ea typeface="Arial"/>
                <a:cs typeface="Arial"/>
              </a:defRPr>
            </a:pPr>
            <a:r>
              <a:rPr sz="1500" b="1">
                <a:solidFill>
                  <a:srgbClr val="176B58"/>
                </a:solidFill>
                <a:latin typeface="Arial"/>
                <a:ea typeface="Arial"/>
                <a:cs typeface="Arial"/>
              </a:rPr>
              <a:t>duly</a:t>
            </a:r>
          </a:p>
        </p:txBody>
      </p:sp>
      <p:sp>
        <p:nvSpPr>
          <p:cNvPr id="3" name="08">
            <a:extLst xmlns:a="http://schemas.openxmlformats.org/drawingml/2006/main">
              <a:ext uri="{FF2B5EF4-FFF2-40B4-BE49-F238E27FC236}">
                <a16:creationId xmlns:a16="http://schemas.microsoft.com/office/drawing/2014/main" id="{FF962CC0-54DB-4C35-ABBD-FA6E20D9EB82}"/>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B60"/>
                </a:solidFill>
                <a:latin typeface="Arial"/>
                <a:ea typeface="Arial"/>
                <a:cs typeface="Arial"/>
              </a:defRPr>
            </a:pPr>
            <a:r>
              <a:rPr sz="1275" b="0">
                <a:solidFill>
                  <a:srgbClr val="566B60"/>
                </a:solidFill>
                <a:latin typeface="Arial"/>
                <a:ea typeface="Arial"/>
                <a:cs typeface="Arial"/>
              </a:rPr>
              <a:t>09</a:t>
            </a:r>
          </a:p>
        </p:txBody>
      </p:sp>
      <p:sp>
        <p:nvSpPr>
          <p:cNvPr id="4" name="Normal rules and demo timers">
            <a:extLst xmlns:a="http://schemas.openxmlformats.org/drawingml/2006/main">
              <a:ext uri="{FF2B5EF4-FFF2-40B4-BE49-F238E27FC236}">
                <a16:creationId xmlns:a16="http://schemas.microsoft.com/office/drawing/2014/main" id="{D5559E68-5ABA-436C-96B0-B59EB3BC9946}"/>
              </a:ext>
            </a:extLst>
          </p:cNvPr>
          <p:cNvSpPr>
            <a:spLocks xmlns:a="http://schemas.openxmlformats.org/drawingml/2006/main" noGrp="1"/>
          </p:cNvSpPr>
          <p:nvPr/>
        </p:nvSpPr>
        <p:spPr>
          <a:xfrm xmlns:a="http://schemas.openxmlformats.org/drawingml/2006/main">
            <a:off x="609600" y="942975"/>
            <a:ext cx="107632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900" b="1">
                <a:solidFill>
                  <a:srgbClr val="19392F"/>
                </a:solidFill>
                <a:latin typeface="Arial"/>
                <a:ea typeface="Arial"/>
                <a:cs typeface="Arial"/>
              </a:defRPr>
            </a:pPr>
            <a:r>
              <a:rPr sz="3900" b="1">
                <a:solidFill>
                  <a:srgbClr val="19392F"/>
                </a:solidFill>
                <a:latin typeface="Arial"/>
                <a:ea typeface="Arial"/>
                <a:cs typeface="Arial"/>
              </a:rPr>
              <a:t>Normal rules and demo timers</a:t>
            </a:r>
          </a:p>
        </p:txBody>
      </p:sp>
      <p:graphicFrame>
        <p:nvGraphicFramePr>
          <p:cNvPr id="13" name=""/>
          <p:cNvGraphicFramePr/>
          <p:nvPr/>
        </p:nvGraphicFramePr>
        <p:xfrm>
          <a:off xmlns:a="http://schemas.openxmlformats.org/drawingml/2006/main" x="609600" y="2390775"/>
          <a:ext xmlns:a="http://schemas.openxmlformats.org/drawingml/2006/main" cx="10972800" cy="3209925"/>
        </p:xfrm>
        <a:graphic xmlns:a="http://schemas.openxmlformats.org/drawingml/2006/main">
          <a:graphicData uri="http://schemas.openxmlformats.org/drawingml/2006/table">
            <a:tbl>
              <a:tblPr/>
              <a:tblGrid>
                <a:gridCol w="4210050"/>
                <a:gridCol w="3476625"/>
                <a:gridCol w="3286125"/>
              </a:tblGrid>
              <a:tr h="641985">
                <a:tc>
                  <a:txBody>
                    <a:bodyPr lIns="161925" tIns="123825" rIns="133350" bIns="85725">
                      <a:noAutofit/>
                    </a:bodyPr>
                    <a:lstStyle/>
                    <a:p>
                      <a:r>
                        <a:rPr sz="1725" b="1">
                          <a:solidFill>
                            <a:srgbClr val="FCFDFB"/>
                          </a:solidFill>
                          <a:latin typeface="Arial"/>
                          <a:ea typeface="Arial"/>
                          <a:cs typeface="Arial"/>
                        </a:rPr>
                        <a:t>Rule</a:t>
                      </a:r>
                    </a:p>
                  </a:txBody>
                  <a:tcPr marL="91440" marR="91440" marT="45720" marB="45720" anchor="ctr">
                    <a:solidFill>
                      <a:srgbClr val="19392F"/>
                    </a:solidFill>
                  </a:tcPr>
                </a:tc>
                <a:tc>
                  <a:txBody>
                    <a:bodyPr lIns="161925" tIns="123825" rIns="133350" bIns="85725">
                      <a:noAutofit/>
                    </a:bodyPr>
                    <a:lstStyle/>
                    <a:p>
                      <a:r>
                        <a:rPr sz="1725" b="1">
                          <a:solidFill>
                            <a:srgbClr val="FCFDFB"/>
                          </a:solidFill>
                          <a:latin typeface="Arial"/>
                          <a:ea typeface="Arial"/>
                          <a:cs typeface="Arial"/>
                        </a:rPr>
                        <a:t>Normal building</a:t>
                      </a:r>
                    </a:p>
                  </a:txBody>
                  <a:tcPr marL="91440" marR="91440" marT="45720" marB="45720" anchor="ctr">
                    <a:solidFill>
                      <a:srgbClr val="19392F"/>
                    </a:solidFill>
                  </a:tcPr>
                </a:tc>
                <a:tc>
                  <a:txBody>
                    <a:bodyPr lIns="161925" tIns="123825" rIns="133350" bIns="85725">
                      <a:noAutofit/>
                    </a:bodyPr>
                    <a:lstStyle/>
                    <a:p>
                      <a:r>
                        <a:rPr sz="1725" b="1">
                          <a:solidFill>
                            <a:srgbClr val="FCFDFB"/>
                          </a:solidFill>
                          <a:latin typeface="Arial"/>
                          <a:ea typeface="Arial"/>
                          <a:cs typeface="Arial"/>
                        </a:rPr>
                        <a:t>Solo demo</a:t>
                      </a:r>
                    </a:p>
                  </a:txBody>
                  <a:tcPr marL="91440" marR="91440" marT="45720" marB="45720" anchor="ctr">
                    <a:solidFill>
                      <a:srgbClr val="19392F"/>
                    </a:solidFill>
                  </a:tcPr>
                </a:tc>
              </a:tr>
              <a:tr h="641985">
                <a:tc>
                  <a:txBody>
                    <a:bodyPr lIns="161925" tIns="123825" rIns="133350" bIns="85725">
                      <a:noAutofit/>
                    </a:bodyPr>
                    <a:lstStyle/>
                    <a:p>
                      <a:r>
                        <a:rPr sz="1725" b="0">
                          <a:solidFill>
                            <a:srgbClr val="19392F"/>
                          </a:solidFill>
                          <a:latin typeface="Arial"/>
                          <a:ea typeface="Arial"/>
                          <a:cs typeface="Arial"/>
                        </a:rPr>
                        <a:t>Objection window</a:t>
                      </a:r>
                    </a:p>
                  </a:txBody>
                  <a:tcPr marL="91440" marR="91440" marT="45720" marB="45720" anchor="ctr">
                    <a:solidFill>
                      <a:srgbClr val="FCFDFB"/>
                    </a:solidFill>
                  </a:tcPr>
                </a:tc>
                <a:tc>
                  <a:txBody>
                    <a:bodyPr lIns="161925" tIns="123825" rIns="133350" bIns="85725">
                      <a:noAutofit/>
                    </a:bodyPr>
                    <a:lstStyle/>
                    <a:p>
                      <a:r>
                        <a:rPr sz="1725" b="0">
                          <a:solidFill>
                            <a:srgbClr val="19392F"/>
                          </a:solidFill>
                          <a:latin typeface="Arial"/>
                          <a:ea typeface="Arial"/>
                          <a:cs typeface="Arial"/>
                        </a:rPr>
                        <a:t>3 days</a:t>
                      </a:r>
                    </a:p>
                  </a:txBody>
                  <a:tcPr marL="91440" marR="91440" marT="45720" marB="45720" anchor="ctr">
                    <a:solidFill>
                      <a:srgbClr val="FCFDFB"/>
                    </a:solidFill>
                  </a:tcPr>
                </a:tc>
                <a:tc>
                  <a:txBody>
                    <a:bodyPr lIns="161925" tIns="123825" rIns="133350" bIns="85725">
                      <a:noAutofit/>
                    </a:bodyPr>
                    <a:lstStyle/>
                    <a:p>
                      <a:r>
                        <a:rPr sz="1725" b="0">
                          <a:solidFill>
                            <a:srgbClr val="19392F"/>
                          </a:solidFill>
                          <a:latin typeface="Arial"/>
                          <a:ea typeface="Arial"/>
                          <a:cs typeface="Arial"/>
                        </a:rPr>
                        <a:t>20 seconds</a:t>
                      </a:r>
                    </a:p>
                  </a:txBody>
                  <a:tcPr marL="91440" marR="91440" marT="45720" marB="45720" anchor="ctr">
                    <a:solidFill>
                      <a:srgbClr val="FCFDFB"/>
                    </a:solidFill>
                  </a:tcPr>
                </a:tc>
              </a:tr>
              <a:tr h="641985">
                <a:tc>
                  <a:txBody>
                    <a:bodyPr lIns="161925" tIns="123825" rIns="133350" bIns="85725">
                      <a:noAutofit/>
                    </a:bodyPr>
                    <a:lstStyle/>
                    <a:p>
                      <a:r>
                        <a:rPr sz="1725" b="0">
                          <a:solidFill>
                            <a:srgbClr val="19392F"/>
                          </a:solidFill>
                          <a:latin typeface="Arial"/>
                          <a:ea typeface="Arial"/>
                          <a:cs typeface="Arial"/>
                        </a:rPr>
                        <a:t>Missing-owner recovery</a:t>
                      </a:r>
                    </a:p>
                  </a:txBody>
                  <a:tcPr marL="91440" marR="91440" marT="45720" marB="45720" anchor="ctr">
                    <a:solidFill>
                      <a:srgbClr val="E8EFE6"/>
                    </a:solidFill>
                  </a:tcPr>
                </a:tc>
                <a:tc>
                  <a:txBody>
                    <a:bodyPr lIns="161925" tIns="123825" rIns="133350" bIns="85725">
                      <a:noAutofit/>
                    </a:bodyPr>
                    <a:lstStyle/>
                    <a:p>
                      <a:r>
                        <a:rPr sz="1725" b="0">
                          <a:solidFill>
                            <a:srgbClr val="19392F"/>
                          </a:solidFill>
                          <a:latin typeface="Arial"/>
                          <a:ea typeface="Arial"/>
                          <a:cs typeface="Arial"/>
                        </a:rPr>
                        <a:t>7 days</a:t>
                      </a:r>
                    </a:p>
                  </a:txBody>
                  <a:tcPr marL="91440" marR="91440" marT="45720" marB="45720" anchor="ctr">
                    <a:solidFill>
                      <a:srgbClr val="E8EFE6"/>
                    </a:solidFill>
                  </a:tcPr>
                </a:tc>
                <a:tc>
                  <a:txBody>
                    <a:bodyPr lIns="161925" tIns="123825" rIns="133350" bIns="85725">
                      <a:noAutofit/>
                    </a:bodyPr>
                    <a:lstStyle/>
                    <a:p>
                      <a:r>
                        <a:rPr sz="1725" b="0">
                          <a:solidFill>
                            <a:srgbClr val="19392F"/>
                          </a:solidFill>
                          <a:latin typeface="Arial"/>
                          <a:ea typeface="Arial"/>
                          <a:cs typeface="Arial"/>
                        </a:rPr>
                        <a:t>60 seconds</a:t>
                      </a:r>
                    </a:p>
                  </a:txBody>
                  <a:tcPr marL="91440" marR="91440" marT="45720" marB="45720" anchor="ctr">
                    <a:solidFill>
                      <a:srgbClr val="E8EFE6"/>
                    </a:solidFill>
                  </a:tcPr>
                </a:tc>
              </a:tr>
              <a:tr h="641985">
                <a:tc>
                  <a:txBody>
                    <a:bodyPr lIns="161925" tIns="123825" rIns="133350" bIns="85725">
                      <a:noAutofit/>
                    </a:bodyPr>
                    <a:lstStyle/>
                    <a:p>
                      <a:r>
                        <a:rPr sz="1725" b="0">
                          <a:solidFill>
                            <a:srgbClr val="19392F"/>
                          </a:solidFill>
                          <a:latin typeface="Arial"/>
                          <a:ea typeface="Arial"/>
                          <a:cs typeface="Arial"/>
                        </a:rPr>
                        <a:t>Budget / dues period</a:t>
                      </a:r>
                    </a:p>
                  </a:txBody>
                  <a:tcPr marL="91440" marR="91440" marT="45720" marB="45720" anchor="ctr">
                    <a:solidFill>
                      <a:srgbClr val="FCFDFB"/>
                    </a:solidFill>
                  </a:tcPr>
                </a:tc>
                <a:tc>
                  <a:txBody>
                    <a:bodyPr lIns="161925" tIns="123825" rIns="133350" bIns="85725">
                      <a:noAutofit/>
                    </a:bodyPr>
                    <a:lstStyle/>
                    <a:p>
                      <a:r>
                        <a:rPr sz="1725" b="0">
                          <a:solidFill>
                            <a:srgbClr val="19392F"/>
                          </a:solidFill>
                          <a:latin typeface="Arial"/>
                          <a:ea typeface="Arial"/>
                          <a:cs typeface="Arial"/>
                        </a:rPr>
                        <a:t>30 days from setup</a:t>
                      </a:r>
                    </a:p>
                  </a:txBody>
                  <a:tcPr marL="91440" marR="91440" marT="45720" marB="45720" anchor="ctr">
                    <a:solidFill>
                      <a:srgbClr val="FCFDFB"/>
                    </a:solidFill>
                  </a:tcPr>
                </a:tc>
                <a:tc>
                  <a:txBody>
                    <a:bodyPr lIns="161925" tIns="123825" rIns="133350" bIns="85725">
                      <a:noAutofit/>
                    </a:bodyPr>
                    <a:lstStyle/>
                    <a:p>
                      <a:r>
                        <a:rPr sz="1725" b="0">
                          <a:solidFill>
                            <a:srgbClr val="19392F"/>
                          </a:solidFill>
                          <a:latin typeface="Arial"/>
                          <a:ea typeface="Arial"/>
                          <a:cs typeface="Arial"/>
                        </a:rPr>
                        <a:t>10 minutes</a:t>
                      </a:r>
                    </a:p>
                  </a:txBody>
                  <a:tcPr marL="91440" marR="91440" marT="45720" marB="45720" anchor="ctr">
                    <a:solidFill>
                      <a:srgbClr val="FCFDFB"/>
                    </a:solidFill>
                  </a:tcPr>
                </a:tc>
              </a:tr>
              <a:tr h="641985">
                <a:tc>
                  <a:txBody>
                    <a:bodyPr lIns="161925" tIns="123825" rIns="133350" bIns="85725">
                      <a:noAutofit/>
                    </a:bodyPr>
                    <a:lstStyle/>
                    <a:p>
                      <a:r>
                        <a:rPr sz="1725" b="0">
                          <a:solidFill>
                            <a:srgbClr val="19392F"/>
                          </a:solidFill>
                          <a:latin typeface="Arial"/>
                          <a:ea typeface="Arial"/>
                          <a:cs typeface="Arial"/>
                        </a:rPr>
                        <a:t>Apartment votes</a:t>
                      </a:r>
                    </a:p>
                  </a:txBody>
                  <a:tcPr marL="91440" marR="91440" marT="45720" marB="45720" anchor="ctr">
                    <a:solidFill>
                      <a:srgbClr val="E8EFE6"/>
                    </a:solidFill>
                  </a:tcPr>
                </a:tc>
                <a:tc>
                  <a:txBody>
                    <a:bodyPr lIns="161925" tIns="123825" rIns="133350" bIns="85725">
                      <a:noAutofit/>
                    </a:bodyPr>
                    <a:lstStyle/>
                    <a:p>
                      <a:r>
                        <a:rPr sz="1725" b="0">
                          <a:solidFill>
                            <a:srgbClr val="19392F"/>
                          </a:solidFill>
                          <a:latin typeface="Arial"/>
                          <a:ea typeface="Arial"/>
                          <a:cs typeface="Arial"/>
                        </a:rPr>
                        <a:t>Real owner signatures</a:t>
                      </a:r>
                    </a:p>
                  </a:txBody>
                  <a:tcPr marL="91440" marR="91440" marT="45720" marB="45720" anchor="ctr">
                    <a:solidFill>
                      <a:srgbClr val="E8EFE6"/>
                    </a:solidFill>
                  </a:tcPr>
                </a:tc>
                <a:tc>
                  <a:txBody>
                    <a:bodyPr lIns="161925" tIns="123825" rIns="133350" bIns="85725">
                      <a:noAutofit/>
                    </a:bodyPr>
                    <a:lstStyle/>
                    <a:p>
                      <a:r>
                        <a:rPr sz="1725" b="0">
                          <a:solidFill>
                            <a:srgbClr val="19392F"/>
                          </a:solidFill>
                          <a:latin typeface="Arial"/>
                          <a:ea typeface="Arial"/>
                          <a:cs typeface="Arial"/>
                        </a:rPr>
                        <a:t>3 simulated apartments</a:t>
                      </a:r>
                    </a:p>
                  </a:txBody>
                  <a:tcPr marL="91440" marR="91440" marT="45720" marB="45720" anchor="ctr">
                    <a:solidFill>
                      <a:srgbClr val="E8EFE6"/>
                    </a:solidFill>
                  </a:tcPr>
                </a:tc>
              </a:tr>
            </a:tbl>
          </a:graphicData>
        </a:graphic>
      </p:graphicFrame>
      <p:sp>
        <p:nvSpPr>
          <p:cNvPr id="6" name="A separate demo WASM accelerates time. Managers ca">
            <a:extLst xmlns:a="http://schemas.openxmlformats.org/drawingml/2006/main">
              <a:ext uri="{FF2B5EF4-FFF2-40B4-BE49-F238E27FC236}">
                <a16:creationId xmlns:a16="http://schemas.microsoft.com/office/drawing/2014/main" id="{0E0757C5-E87C-4050-BAF7-DDCA1C9F76C0}"/>
              </a:ext>
            </a:extLst>
          </p:cNvPr>
          <p:cNvSpPr>
            <a:spLocks xmlns:a="http://schemas.openxmlformats.org/drawingml/2006/main" noGrp="1"/>
          </p:cNvSpPr>
          <p:nvPr/>
        </p:nvSpPr>
        <p:spPr>
          <a:xfrm xmlns:a="http://schemas.openxmlformats.org/drawingml/2006/main">
            <a:off x="609600" y="5857875"/>
            <a:ext cx="110966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566B60"/>
                </a:solidFill>
                <a:latin typeface="Arial"/>
                <a:ea typeface="Arial"/>
                <a:cs typeface="Arial"/>
              </a:defRPr>
            </a:pPr>
            <a:r>
              <a:rPr sz="1575" b="0">
                <a:solidFill>
                  <a:srgbClr val="566B60"/>
                </a:solidFill>
                <a:latin typeface="Arial"/>
                <a:ea typeface="Arial"/>
                <a:cs typeface="Arial"/>
              </a:rPr>
              <a:t>A separate demo WASM accelerates time. Managers cannot shorten deployed timers.</a:t>
            </a:r>
          </a:p>
        </p:txBody>
      </p:sp>
    </p:spTree>
    <p:extLst>
      <p:ext uri="{BB962C8B-B14F-4D97-AF65-F5344CB8AC3E}">
        <p14:creationId xmlns:p14="http://schemas.microsoft.com/office/powerpoint/2010/main" val="1191741633"/>
      </p:ext>
    </p:extLst>
  </p:cSld>
</p:sld>
</file>

<file path=ppt/slides/slide10.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8" name="APPENDIX / LIVE DEMO">
            <a:extLst xmlns:a="http://schemas.openxmlformats.org/drawingml/2006/main">
              <a:ext uri="{FF2B5EF4-FFF2-40B4-BE49-F238E27FC236}">
                <a16:creationId xmlns:a16="http://schemas.microsoft.com/office/drawing/2014/main" id="{62C63BE1-4F96-4243-9C4A-AE1B4876898D}"/>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176B58"/>
                </a:solidFill>
                <a:latin typeface="Arial"/>
                <a:ea typeface="Arial"/>
                <a:cs typeface="Arial"/>
              </a:defRPr>
            </a:pPr>
            <a:r>
              <a:rPr sz="1275" b="1">
                <a:solidFill>
                  <a:srgbClr val="176B58"/>
                </a:solidFill>
                <a:latin typeface="Arial"/>
                <a:ea typeface="Arial"/>
                <a:cs typeface="Arial"/>
              </a:rPr>
              <a:t>APPENDIX / LIVE DEMO</a:t>
            </a:r>
          </a:p>
        </p:txBody>
      </p:sp>
      <p:sp>
        <p:nvSpPr>
          <p:cNvPr id="2" name="duly">
            <a:extLst xmlns:a="http://schemas.openxmlformats.org/drawingml/2006/main">
              <a:ext uri="{FF2B5EF4-FFF2-40B4-BE49-F238E27FC236}">
                <a16:creationId xmlns:a16="http://schemas.microsoft.com/office/drawing/2014/main" id="{2840E85B-BDC8-407C-BBBD-8B39773F0D12}"/>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76B58"/>
                </a:solidFill>
                <a:latin typeface="Arial"/>
                <a:ea typeface="Arial"/>
                <a:cs typeface="Arial"/>
              </a:defRPr>
            </a:pPr>
            <a:r>
              <a:rPr sz="1500" b="1">
                <a:solidFill>
                  <a:srgbClr val="176B58"/>
                </a:solidFill>
                <a:latin typeface="Arial"/>
                <a:ea typeface="Arial"/>
                <a:cs typeface="Arial"/>
              </a:rPr>
              <a:t>duly</a:t>
            </a:r>
          </a:p>
        </p:txBody>
      </p:sp>
      <p:sp>
        <p:nvSpPr>
          <p:cNvPr id="3" name="09">
            <a:extLst xmlns:a="http://schemas.openxmlformats.org/drawingml/2006/main">
              <a:ext uri="{FF2B5EF4-FFF2-40B4-BE49-F238E27FC236}">
                <a16:creationId xmlns:a16="http://schemas.microsoft.com/office/drawing/2014/main" id="{8DD0F3D0-3B8F-4AED-A44E-6AF689312F71}"/>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B60"/>
                </a:solidFill>
                <a:latin typeface="Arial"/>
                <a:ea typeface="Arial"/>
                <a:cs typeface="Arial"/>
              </a:defRPr>
            </a:pPr>
            <a:r>
              <a:rPr sz="1275" b="0">
                <a:solidFill>
                  <a:srgbClr val="566B60"/>
                </a:solidFill>
                <a:latin typeface="Arial"/>
                <a:ea typeface="Arial"/>
                <a:cs typeface="Arial"/>
              </a:rPr>
              <a:t>10</a:t>
            </a:r>
          </a:p>
        </p:txBody>
      </p:sp>
      <p:sp>
        <p:nvSpPr>
          <p:cNvPr id="4" name="Our shared building for the demo">
            <a:extLst xmlns:a="http://schemas.openxmlformats.org/drawingml/2006/main">
              <a:ext uri="{FF2B5EF4-FFF2-40B4-BE49-F238E27FC236}">
                <a16:creationId xmlns:a16="http://schemas.microsoft.com/office/drawing/2014/main" id="{A8717102-873D-4163-AF7F-37EC138912D8}"/>
              </a:ext>
            </a:extLst>
          </p:cNvPr>
          <p:cNvSpPr>
            <a:spLocks xmlns:a="http://schemas.openxmlformats.org/drawingml/2006/main" noGrp="1"/>
          </p:cNvSpPr>
          <p:nvPr/>
        </p:nvSpPr>
        <p:spPr>
          <a:xfrm xmlns:a="http://schemas.openxmlformats.org/drawingml/2006/main">
            <a:off x="609600" y="942975"/>
            <a:ext cx="109537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825" b="1">
                <a:solidFill>
                  <a:srgbClr val="19392F"/>
                </a:solidFill>
                <a:latin typeface="Arial"/>
                <a:ea typeface="Arial"/>
                <a:cs typeface="Arial"/>
              </a:defRPr>
            </a:pPr>
            <a:r>
              <a:rPr sz="3825" b="1">
                <a:solidFill>
                  <a:srgbClr val="19392F"/>
                </a:solidFill>
                <a:latin typeface="Arial"/>
                <a:ea typeface="Arial"/>
                <a:cs typeface="Arial"/>
              </a:rPr>
              <a:t>Our shared building for the demo</a:t>
            </a:r>
          </a:p>
        </p:txBody>
      </p:sp>
      <p:graphicFrame>
        <p:nvGraphicFramePr>
          <p:cNvPr id="14" name=""/>
          <p:cNvGraphicFramePr/>
          <p:nvPr/>
        </p:nvGraphicFramePr>
        <p:xfrm>
          <a:off xmlns:a="http://schemas.openxmlformats.org/drawingml/2006/main" x="609600" y="2228850"/>
          <a:ext xmlns:a="http://schemas.openxmlformats.org/drawingml/2006/main" cx="10972800" cy="2686050"/>
        </p:xfrm>
        <a:graphic xmlns:a="http://schemas.openxmlformats.org/drawingml/2006/main">
          <a:graphicData uri="http://schemas.openxmlformats.org/drawingml/2006/table">
            <a:tbl>
              <a:tblPr/>
              <a:tblGrid>
                <a:gridCol w="4210050"/>
                <a:gridCol w="2343150"/>
                <a:gridCol w="4419600"/>
              </a:tblGrid>
              <a:tr h="671513">
                <a:tc>
                  <a:txBody>
                    <a:bodyPr lIns="161925" tIns="114300" rIns="133350" bIns="85725">
                      <a:noAutofit/>
                    </a:bodyPr>
                    <a:lstStyle/>
                    <a:p>
                      <a:r>
                        <a:rPr sz="1725" b="1">
                          <a:solidFill>
                            <a:srgbClr val="FCFDFB"/>
                          </a:solidFill>
                          <a:latin typeface="Arial"/>
                          <a:ea typeface="Arial"/>
                          <a:cs typeface="Arial"/>
                        </a:rPr>
                        <a:t>Participant</a:t>
                      </a:r>
                    </a:p>
                  </a:txBody>
                  <a:tcPr marL="91440" marR="91440" marT="45720" marB="45720" anchor="ctr">
                    <a:solidFill>
                      <a:srgbClr val="19392F"/>
                    </a:solidFill>
                  </a:tcPr>
                </a:tc>
                <a:tc>
                  <a:txBody>
                    <a:bodyPr lIns="161925" tIns="114300" rIns="133350" bIns="85725">
                      <a:noAutofit/>
                    </a:bodyPr>
                    <a:lstStyle/>
                    <a:p>
                      <a:r>
                        <a:rPr sz="1725" b="1">
                          <a:solidFill>
                            <a:srgbClr val="FCFDFB"/>
                          </a:solidFill>
                          <a:latin typeface="Arial"/>
                          <a:ea typeface="Arial"/>
                          <a:cs typeface="Arial"/>
                        </a:rPr>
                        <a:t>Apartment</a:t>
                      </a:r>
                    </a:p>
                  </a:txBody>
                  <a:tcPr marL="91440" marR="91440" marT="45720" marB="45720" anchor="ctr">
                    <a:solidFill>
                      <a:srgbClr val="19392F"/>
                    </a:solidFill>
                  </a:tcPr>
                </a:tc>
                <a:tc>
                  <a:txBody>
                    <a:bodyPr lIns="161925" tIns="114300" rIns="133350" bIns="85725">
                      <a:noAutofit/>
                    </a:bodyPr>
                    <a:lstStyle/>
                    <a:p>
                      <a:r>
                        <a:rPr sz="1725" b="1">
                          <a:solidFill>
                            <a:srgbClr val="FCFDFB"/>
                          </a:solidFill>
                          <a:latin typeface="Arial"/>
                          <a:ea typeface="Arial"/>
                          <a:cs typeface="Arial"/>
                        </a:rPr>
                        <a:t>Action</a:t>
                      </a:r>
                    </a:p>
                  </a:txBody>
                  <a:tcPr marL="91440" marR="91440" marT="45720" marB="45720" anchor="ctr">
                    <a:solidFill>
                      <a:srgbClr val="19392F"/>
                    </a:solidFill>
                  </a:tcPr>
                </a:tc>
              </a:tr>
              <a:tr h="671513">
                <a:tc>
                  <a:txBody>
                    <a:bodyPr lIns="161925" tIns="114300" rIns="133350" bIns="85725">
                      <a:noAutofit/>
                    </a:bodyPr>
                    <a:lstStyle/>
                    <a:p>
                      <a:r>
                        <a:rPr sz="1725" b="0">
                          <a:solidFill>
                            <a:srgbClr val="19392F"/>
                          </a:solidFill>
                          <a:latin typeface="Arial"/>
                          <a:ea typeface="Arial"/>
                          <a:cs typeface="Arial"/>
                        </a:rPr>
                        <a:t>Presenter / manager</a:t>
                      </a:r>
                    </a:p>
                  </a:txBody>
                  <a:tcPr marL="91440" marR="91440" marT="45720" marB="45720" anchor="ctr">
                    <a:solidFill>
                      <a:srgbClr val="FCFDFB"/>
                    </a:solidFill>
                  </a:tcPr>
                </a:tc>
                <a:tc>
                  <a:txBody>
                    <a:bodyPr lIns="161925" tIns="114300" rIns="133350" bIns="85725">
                      <a:noAutofit/>
                    </a:bodyPr>
                    <a:lstStyle/>
                    <a:p>
                      <a:r>
                        <a:rPr sz="1725" b="0">
                          <a:solidFill>
                            <a:srgbClr val="19392F"/>
                          </a:solidFill>
                          <a:latin typeface="Arial"/>
                          <a:ea typeface="Arial"/>
                          <a:cs typeface="Arial"/>
                        </a:rPr>
                        <a:t>1</a:t>
                      </a:r>
                    </a:p>
                  </a:txBody>
                  <a:tcPr marL="91440" marR="91440" marT="45720" marB="45720" anchor="ctr">
                    <a:solidFill>
                      <a:srgbClr val="FCFDFB"/>
                    </a:solidFill>
                  </a:tcPr>
                </a:tc>
                <a:tc>
                  <a:txBody>
                    <a:bodyPr lIns="161925" tIns="114300" rIns="133350" bIns="85725">
                      <a:noAutofit/>
                    </a:bodyPr>
                    <a:lstStyle/>
                    <a:p>
                      <a:r>
                        <a:rPr sz="1725" b="0">
                          <a:solidFill>
                            <a:srgbClr val="19392F"/>
                          </a:solidFill>
                          <a:latin typeface="Arial"/>
                          <a:ea typeface="Arial"/>
                          <a:cs typeface="Arial"/>
                        </a:rPr>
                        <a:t>Propose a shared repair</a:t>
                      </a:r>
                    </a:p>
                  </a:txBody>
                  <a:tcPr marL="91440" marR="91440" marT="45720" marB="45720" anchor="ctr">
                    <a:solidFill>
                      <a:srgbClr val="FCFDFB"/>
                    </a:solidFill>
                  </a:tcPr>
                </a:tc>
              </a:tr>
              <a:tr h="671513">
                <a:tc>
                  <a:txBody>
                    <a:bodyPr lIns="161925" tIns="114300" rIns="133350" bIns="85725">
                      <a:noAutofit/>
                    </a:bodyPr>
                    <a:lstStyle/>
                    <a:p>
                      <a:r>
                        <a:rPr sz="1725" b="0">
                          <a:solidFill>
                            <a:srgbClr val="19392F"/>
                          </a:solidFill>
                          <a:latin typeface="Arial"/>
                          <a:ea typeface="Arial"/>
                          <a:cs typeface="Arial"/>
                        </a:rPr>
                        <a:t>Volunteer 1</a:t>
                      </a:r>
                    </a:p>
                  </a:txBody>
                  <a:tcPr marL="91440" marR="91440" marT="45720" marB="45720" anchor="ctr">
                    <a:solidFill>
                      <a:srgbClr val="E8EFE6"/>
                    </a:solidFill>
                  </a:tcPr>
                </a:tc>
                <a:tc>
                  <a:txBody>
                    <a:bodyPr lIns="161925" tIns="114300" rIns="133350" bIns="85725">
                      <a:noAutofit/>
                    </a:bodyPr>
                    <a:lstStyle/>
                    <a:p>
                      <a:r>
                        <a:rPr sz="1725" b="0">
                          <a:solidFill>
                            <a:srgbClr val="19392F"/>
                          </a:solidFill>
                          <a:latin typeface="Arial"/>
                          <a:ea typeface="Arial"/>
                          <a:cs typeface="Arial"/>
                        </a:rPr>
                        <a:t>2</a:t>
                      </a:r>
                    </a:p>
                  </a:txBody>
                  <a:tcPr marL="91440" marR="91440" marT="45720" marB="45720" anchor="ctr">
                    <a:solidFill>
                      <a:srgbClr val="E8EFE6"/>
                    </a:solidFill>
                  </a:tcPr>
                </a:tc>
                <a:tc>
                  <a:txBody>
                    <a:bodyPr lIns="161925" tIns="114300" rIns="133350" bIns="85725">
                      <a:noAutofit/>
                    </a:bodyPr>
                    <a:lstStyle/>
                    <a:p>
                      <a:r>
                        <a:rPr sz="1725" b="0">
                          <a:solidFill>
                            <a:srgbClr val="19392F"/>
                          </a:solidFill>
                          <a:latin typeface="Arial"/>
                          <a:ea typeface="Arial"/>
                          <a:cs typeface="Arial"/>
                        </a:rPr>
                        <a:t>Pay test dues and vote</a:t>
                      </a:r>
                    </a:p>
                  </a:txBody>
                  <a:tcPr marL="91440" marR="91440" marT="45720" marB="45720" anchor="ctr">
                    <a:solidFill>
                      <a:srgbClr val="E8EFE6"/>
                    </a:solidFill>
                  </a:tcPr>
                </a:tc>
              </a:tr>
              <a:tr h="671513">
                <a:tc>
                  <a:txBody>
                    <a:bodyPr lIns="161925" tIns="114300" rIns="133350" bIns="85725">
                      <a:noAutofit/>
                    </a:bodyPr>
                    <a:lstStyle/>
                    <a:p>
                      <a:r>
                        <a:rPr sz="1725" b="0">
                          <a:solidFill>
                            <a:srgbClr val="19392F"/>
                          </a:solidFill>
                          <a:latin typeface="Arial"/>
                          <a:ea typeface="Arial"/>
                          <a:cs typeface="Arial"/>
                        </a:rPr>
                        <a:t>Volunteer 2</a:t>
                      </a:r>
                    </a:p>
                  </a:txBody>
                  <a:tcPr marL="91440" marR="91440" marT="45720" marB="45720" anchor="ctr">
                    <a:solidFill>
                      <a:srgbClr val="FCFDFB"/>
                    </a:solidFill>
                  </a:tcPr>
                </a:tc>
                <a:tc>
                  <a:txBody>
                    <a:bodyPr lIns="161925" tIns="114300" rIns="133350" bIns="85725">
                      <a:noAutofit/>
                    </a:bodyPr>
                    <a:lstStyle/>
                    <a:p>
                      <a:r>
                        <a:rPr sz="1725" b="0">
                          <a:solidFill>
                            <a:srgbClr val="19392F"/>
                          </a:solidFill>
                          <a:latin typeface="Arial"/>
                          <a:ea typeface="Arial"/>
                          <a:cs typeface="Arial"/>
                        </a:rPr>
                        <a:t>3</a:t>
                      </a:r>
                    </a:p>
                  </a:txBody>
                  <a:tcPr marL="91440" marR="91440" marT="45720" marB="45720" anchor="ctr">
                    <a:solidFill>
                      <a:srgbClr val="FCFDFB"/>
                    </a:solidFill>
                  </a:tcPr>
                </a:tc>
                <a:tc>
                  <a:txBody>
                    <a:bodyPr lIns="161925" tIns="114300" rIns="133350" bIns="85725">
                      <a:noAutofit/>
                    </a:bodyPr>
                    <a:lstStyle/>
                    <a:p>
                      <a:r>
                        <a:rPr sz="1725" b="0">
                          <a:solidFill>
                            <a:srgbClr val="19392F"/>
                          </a:solidFill>
                          <a:latin typeface="Arial"/>
                          <a:ea typeface="Arial"/>
                          <a:cs typeface="Arial"/>
                        </a:rPr>
                        <a:t>Pay test dues and vote</a:t>
                      </a:r>
                    </a:p>
                  </a:txBody>
                  <a:tcPr marL="91440" marR="91440" marT="45720" marB="45720" anchor="ctr">
                    <a:solidFill>
                      <a:srgbClr val="FCFDFB"/>
                    </a:solidFill>
                  </a:tcPr>
                </a:tc>
              </a:tr>
            </a:tbl>
          </a:graphicData>
        </a:graphic>
      </p:graphicFrame>
      <p:sp>
        <p:nvSpPr>
          <p:cNvPr id="6" name="Two of three apartment votes form a majority.">
            <a:extLst xmlns:a="http://schemas.openxmlformats.org/drawingml/2006/main">
              <a:ext uri="{FF2B5EF4-FFF2-40B4-BE49-F238E27FC236}">
                <a16:creationId xmlns:a16="http://schemas.microsoft.com/office/drawing/2014/main" id="{6CEB9785-243B-4F31-9A89-665AA0209583}"/>
              </a:ext>
            </a:extLst>
          </p:cNvPr>
          <p:cNvSpPr>
            <a:spLocks xmlns:a="http://schemas.openxmlformats.org/drawingml/2006/main" noGrp="1"/>
          </p:cNvSpPr>
          <p:nvPr/>
        </p:nvSpPr>
        <p:spPr>
          <a:xfrm xmlns:a="http://schemas.openxmlformats.org/drawingml/2006/main">
            <a:off x="619125" y="52101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B58"/>
                </a:solidFill>
                <a:latin typeface="Arial"/>
                <a:ea typeface="Arial"/>
                <a:cs typeface="Arial"/>
              </a:defRPr>
            </a:pPr>
            <a:r>
              <a:rPr sz="1875" b="1">
                <a:solidFill>
                  <a:srgbClr val="176B58"/>
                </a:solidFill>
                <a:latin typeface="Arial"/>
                <a:ea typeface="Arial"/>
                <a:cs typeface="Arial"/>
              </a:rPr>
              <a:t>Two of three apartment votes form a majority.</a:t>
            </a:r>
          </a:p>
        </p:txBody>
      </p:sp>
      <p:sp>
        <p:nvSpPr>
          <p:cNvPr id="7" name="Each participant signs from their own account. QR ">
            <a:extLst xmlns:a="http://schemas.openxmlformats.org/drawingml/2006/main">
              <a:ext uri="{FF2B5EF4-FFF2-40B4-BE49-F238E27FC236}">
                <a16:creationId xmlns:a16="http://schemas.microsoft.com/office/drawing/2014/main" id="{80C12E6A-AEA6-42F4-A440-DFD664636C6D}"/>
              </a:ext>
            </a:extLst>
          </p:cNvPr>
          <p:cNvSpPr>
            <a:spLocks xmlns:a="http://schemas.openxmlformats.org/drawingml/2006/main" noGrp="1"/>
          </p:cNvSpPr>
          <p:nvPr/>
        </p:nvSpPr>
        <p:spPr>
          <a:xfrm xmlns:a="http://schemas.openxmlformats.org/drawingml/2006/main">
            <a:off x="619125" y="5705475"/>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Each participant signs from their own account. QR opens the building.</a:t>
            </a:r>
          </a:p>
        </p:txBody>
      </p:sp>
    </p:spTree>
    <p:extLst>
      <p:ext uri="{BB962C8B-B14F-4D97-AF65-F5344CB8AC3E}">
        <p14:creationId xmlns:p14="http://schemas.microsoft.com/office/powerpoint/2010/main" val="241032690"/>
      </p:ext>
    </p:extLst>
  </p:cSld>
</p:sld>
</file>

<file path=ppt/slides/slide11.xml><?xml version="1.0" encoding="utf-8"?>
<p:sld xmlns:p="http://schemas.openxmlformats.org/presentationml/2006/main">
  <p:cSld>
    <p:bg>
      <p:bgPr>
        <a:solidFill xmlns:a="http://schemas.openxmlformats.org/drawingml/2006/main">
          <a:srgbClr val="F4F6F2"/>
        </a:solidFill>
      </p:bgPr>
    </p:bg>
    <p:spTree>
      <p:nvGrpSpPr>
        <p:cNvPr id="1" name=""/>
        <p:cNvGrpSpPr/>
        <p:nvPr/>
      </p:nvGrpSpPr>
      <p:grpSpPr>
        <a:xfrm xmlns:a="http://schemas.openxmlformats.org/drawingml/2006/main"/>
      </p:grpSpPr>
      <p:sp>
        <p:nvSpPr>
          <p:cNvPr id="19" name="APPENDIX / EVIDENCE">
            <a:extLst xmlns:a="http://schemas.openxmlformats.org/drawingml/2006/main">
              <a:ext uri="{FF2B5EF4-FFF2-40B4-BE49-F238E27FC236}">
                <a16:creationId xmlns:a16="http://schemas.microsoft.com/office/drawing/2014/main" id="{C0CAE24A-18A3-43FD-9882-F2CA2BAA7A20}"/>
              </a:ext>
            </a:extLst>
          </p:cNvPr>
          <p:cNvSpPr>
            <a:spLocks xmlns:a="http://schemas.openxmlformats.org/drawingml/2006/main" noGrp="1"/>
          </p:cNvSpPr>
          <p:nvPr/>
        </p:nvSpPr>
        <p:spPr>
          <a:xfrm xmlns:a="http://schemas.openxmlformats.org/drawingml/2006/main">
            <a:off x="609600" y="4191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275" b="1">
                <a:solidFill>
                  <a:srgbClr val="176B58"/>
                </a:solidFill>
                <a:latin typeface="Arial"/>
                <a:ea typeface="Arial"/>
                <a:cs typeface="Arial"/>
              </a:defRPr>
            </a:pPr>
            <a:r>
              <a:rPr sz="1275" b="1">
                <a:solidFill>
                  <a:srgbClr val="176B58"/>
                </a:solidFill>
                <a:latin typeface="Arial"/>
                <a:ea typeface="Arial"/>
                <a:cs typeface="Arial"/>
              </a:rPr>
              <a:t>APPENDIX / EVIDENCE</a:t>
            </a:r>
          </a:p>
        </p:txBody>
      </p:sp>
      <p:sp>
        <p:nvSpPr>
          <p:cNvPr id="2" name="duly">
            <a:extLst xmlns:a="http://schemas.openxmlformats.org/drawingml/2006/main">
              <a:ext uri="{FF2B5EF4-FFF2-40B4-BE49-F238E27FC236}">
                <a16:creationId xmlns:a16="http://schemas.microsoft.com/office/drawing/2014/main" id="{8FCA4728-23F8-40BA-9E5C-EF7D1C7FB079}"/>
              </a:ext>
            </a:extLst>
          </p:cNvPr>
          <p:cNvSpPr>
            <a:spLocks xmlns:a="http://schemas.openxmlformats.org/drawingml/2006/main" noGrp="1"/>
          </p:cNvSpPr>
          <p:nvPr/>
        </p:nvSpPr>
        <p:spPr>
          <a:xfrm xmlns:a="http://schemas.openxmlformats.org/drawingml/2006/main">
            <a:off x="609600" y="6353175"/>
            <a:ext cx="1143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00" b="1">
                <a:solidFill>
                  <a:srgbClr val="176B58"/>
                </a:solidFill>
                <a:latin typeface="Arial"/>
                <a:ea typeface="Arial"/>
                <a:cs typeface="Arial"/>
              </a:defRPr>
            </a:pPr>
            <a:r>
              <a:rPr sz="1500" b="1">
                <a:solidFill>
                  <a:srgbClr val="176B58"/>
                </a:solidFill>
                <a:latin typeface="Arial"/>
                <a:ea typeface="Arial"/>
                <a:cs typeface="Arial"/>
              </a:rPr>
              <a:t>duly</a:t>
            </a:r>
          </a:p>
        </p:txBody>
      </p:sp>
      <p:sp>
        <p:nvSpPr>
          <p:cNvPr id="3" name="10">
            <a:extLst xmlns:a="http://schemas.openxmlformats.org/drawingml/2006/main">
              <a:ext uri="{FF2B5EF4-FFF2-40B4-BE49-F238E27FC236}">
                <a16:creationId xmlns:a16="http://schemas.microsoft.com/office/drawing/2014/main" id="{E18B3667-DE86-43D4-9EF1-6FBCFAA3A7AA}"/>
              </a:ext>
            </a:extLst>
          </p:cNvPr>
          <p:cNvSpPr>
            <a:spLocks xmlns:a="http://schemas.openxmlformats.org/drawingml/2006/main" noGrp="1"/>
          </p:cNvSpPr>
          <p:nvPr/>
        </p:nvSpPr>
        <p:spPr>
          <a:xfrm xmlns:a="http://schemas.openxmlformats.org/drawingml/2006/main">
            <a:off x="11049000" y="6362700"/>
            <a:ext cx="514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566B60"/>
                </a:solidFill>
                <a:latin typeface="Arial"/>
                <a:ea typeface="Arial"/>
                <a:cs typeface="Arial"/>
              </a:defRPr>
            </a:pPr>
            <a:r>
              <a:rPr sz="1275" b="0">
                <a:solidFill>
                  <a:srgbClr val="566B60"/>
                </a:solidFill>
                <a:latin typeface="Arial"/>
                <a:ea typeface="Arial"/>
                <a:cs typeface="Arial"/>
              </a:rPr>
              <a:t>11</a:t>
            </a:r>
          </a:p>
        </p:txBody>
      </p:sp>
      <p:sp>
        <p:nvSpPr>
          <p:cNvPr id="4" name="The jury can inspect the implementation">
            <a:extLst xmlns:a="http://schemas.openxmlformats.org/drawingml/2006/main">
              <a:ext uri="{FF2B5EF4-FFF2-40B4-BE49-F238E27FC236}">
                <a16:creationId xmlns:a16="http://schemas.microsoft.com/office/drawing/2014/main" id="{D80136AF-6078-46F9-921E-27E4463270CE}"/>
              </a:ext>
            </a:extLst>
          </p:cNvPr>
          <p:cNvSpPr>
            <a:spLocks xmlns:a="http://schemas.openxmlformats.org/drawingml/2006/main" noGrp="1"/>
          </p:cNvSpPr>
          <p:nvPr/>
        </p:nvSpPr>
        <p:spPr>
          <a:xfrm xmlns:a="http://schemas.openxmlformats.org/drawingml/2006/main">
            <a:off x="609600" y="942975"/>
            <a:ext cx="109918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19392F"/>
                </a:solidFill>
                <a:latin typeface="Arial"/>
                <a:ea typeface="Arial"/>
                <a:cs typeface="Arial"/>
              </a:defRPr>
            </a:pPr>
            <a:r>
              <a:rPr sz="3600" b="1">
                <a:solidFill>
                  <a:srgbClr val="19392F"/>
                </a:solidFill>
                <a:latin typeface="Arial"/>
                <a:ea typeface="Arial"/>
                <a:cs typeface="Arial"/>
              </a:rPr>
              <a:t>The jury can inspect the implementation</a:t>
            </a:r>
          </a:p>
        </p:txBody>
      </p:sp>
      <p:sp>
        <p:nvSpPr>
          <p:cNvPr id="5" name="Live product">
            <a:extLst xmlns:a="http://schemas.openxmlformats.org/drawingml/2006/main">
              <a:ext uri="{FF2B5EF4-FFF2-40B4-BE49-F238E27FC236}">
                <a16:creationId xmlns:a16="http://schemas.microsoft.com/office/drawing/2014/main" id="{8D29B059-F39F-452B-AC21-1D764537E6F7}"/>
              </a:ext>
            </a:extLst>
          </p:cNvPr>
          <p:cNvSpPr>
            <a:spLocks xmlns:a="http://schemas.openxmlformats.org/drawingml/2006/main" noGrp="1"/>
          </p:cNvSpPr>
          <p:nvPr/>
        </p:nvSpPr>
        <p:spPr>
          <a:xfrm xmlns:a="http://schemas.openxmlformats.org/drawingml/2006/main">
            <a:off x="619125" y="2276475"/>
            <a:ext cx="2819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Live product</a:t>
            </a:r>
          </a:p>
        </p:txBody>
      </p:sp>
      <p:sp>
        <p:nvSpPr>
          <p:cNvPr id="6" name="duly-sepia.vercel.app">
            <a:extLst xmlns:a="http://schemas.openxmlformats.org/drawingml/2006/main">
              <a:ext uri="{FF2B5EF4-FFF2-40B4-BE49-F238E27FC236}">
                <a16:creationId xmlns:a16="http://schemas.microsoft.com/office/drawing/2014/main" id="{3E99F0AA-02BD-403F-9122-8C6CD3D08070}"/>
              </a:ext>
            </a:extLst>
          </p:cNvPr>
          <p:cNvSpPr>
            <a:spLocks xmlns:a="http://schemas.openxmlformats.org/drawingml/2006/main" noGrp="1"/>
          </p:cNvSpPr>
          <p:nvPr/>
        </p:nvSpPr>
        <p:spPr>
          <a:xfrm xmlns:a="http://schemas.openxmlformats.org/drawingml/2006/main">
            <a:off x="3638550" y="2276475"/>
            <a:ext cx="7781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B58"/>
                </a:solidFill>
                <a:latin typeface="Arial"/>
                <a:ea typeface="Arial"/>
                <a:cs typeface="Arial"/>
              </a:defRPr>
            </a:pPr>
            <a:r>
              <a:rPr sz="1875" b="1">
                <a:solidFill>
                  <a:srgbClr val="176B58"/>
                </a:solidFill>
                <a:latin typeface="Arial"/>
                <a:ea typeface="Arial"/>
                <a:cs typeface="Arial"/>
                <a:hlinkClick xmlns:r="http://schemas.openxmlformats.org/officeDocument/2006/relationships" r:id="Rc7f89f7970d14ebc"/>
              </a:rPr>
              <a:t>duly-sepia.vercel.app</a:t>
            </a:r>
          </a:p>
        </p:txBody>
      </p:sp>
      <p:sp>
        <p:nvSpPr>
          <p:cNvPr id="7" name="shape">
            <a:extLst xmlns:a="http://schemas.openxmlformats.org/drawingml/2006/main">
              <a:ext uri="{FF2B5EF4-FFF2-40B4-BE49-F238E27FC236}">
                <a16:creationId xmlns:a16="http://schemas.microsoft.com/office/drawing/2014/main" id="{E933F428-2841-4E2B-B28F-80C16441F5AB}"/>
              </a:ext>
            </a:extLst>
          </p:cNvPr>
          <p:cNvSpPr>
            <a:spLocks xmlns:a="http://schemas.openxmlformats.org/drawingml/2006/main" noGrp="1"/>
          </p:cNvSpPr>
          <p:nvPr/>
        </p:nvSpPr>
        <p:spPr>
          <a:xfrm xmlns:a="http://schemas.openxmlformats.org/drawingml/2006/main">
            <a:off x="619125" y="2819400"/>
            <a:ext cx="1095375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8" name="Source code">
            <a:extLst xmlns:a="http://schemas.openxmlformats.org/drawingml/2006/main">
              <a:ext uri="{FF2B5EF4-FFF2-40B4-BE49-F238E27FC236}">
                <a16:creationId xmlns:a16="http://schemas.microsoft.com/office/drawing/2014/main" id="{12457207-C5CA-4169-891B-C130637B8F21}"/>
              </a:ext>
            </a:extLst>
          </p:cNvPr>
          <p:cNvSpPr>
            <a:spLocks xmlns:a="http://schemas.openxmlformats.org/drawingml/2006/main" noGrp="1"/>
          </p:cNvSpPr>
          <p:nvPr/>
        </p:nvSpPr>
        <p:spPr>
          <a:xfrm xmlns:a="http://schemas.openxmlformats.org/drawingml/2006/main">
            <a:off x="619125" y="3000375"/>
            <a:ext cx="2819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Source code</a:t>
            </a:r>
          </a:p>
        </p:txBody>
      </p:sp>
      <p:sp>
        <p:nvSpPr>
          <p:cNvPr id="9" name="github.com/mryavascann/aidat">
            <a:extLst xmlns:a="http://schemas.openxmlformats.org/drawingml/2006/main">
              <a:ext uri="{FF2B5EF4-FFF2-40B4-BE49-F238E27FC236}">
                <a16:creationId xmlns:a16="http://schemas.microsoft.com/office/drawing/2014/main" id="{C5EDE7E8-7E42-462D-90FF-667144B0FD26}"/>
              </a:ext>
            </a:extLst>
          </p:cNvPr>
          <p:cNvSpPr>
            <a:spLocks xmlns:a="http://schemas.openxmlformats.org/drawingml/2006/main" noGrp="1"/>
          </p:cNvSpPr>
          <p:nvPr/>
        </p:nvSpPr>
        <p:spPr>
          <a:xfrm xmlns:a="http://schemas.openxmlformats.org/drawingml/2006/main">
            <a:off x="3638550" y="3000375"/>
            <a:ext cx="7781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B58"/>
                </a:solidFill>
                <a:latin typeface="Arial"/>
                <a:ea typeface="Arial"/>
                <a:cs typeface="Arial"/>
              </a:defRPr>
            </a:pPr>
            <a:r>
              <a:rPr sz="1875" b="1">
                <a:solidFill>
                  <a:srgbClr val="176B58"/>
                </a:solidFill>
                <a:latin typeface="Arial"/>
                <a:ea typeface="Arial"/>
                <a:cs typeface="Arial"/>
                <a:hlinkClick xmlns:r="http://schemas.openxmlformats.org/officeDocument/2006/relationships" r:id="R2991f8e484ee4c0b"/>
              </a:rPr>
              <a:t>github.com/mryavascann/aidat</a:t>
            </a:r>
          </a:p>
        </p:txBody>
      </p:sp>
      <p:sp>
        <p:nvSpPr>
          <p:cNvPr id="10" name="shape">
            <a:extLst xmlns:a="http://schemas.openxmlformats.org/drawingml/2006/main">
              <a:ext uri="{FF2B5EF4-FFF2-40B4-BE49-F238E27FC236}">
                <a16:creationId xmlns:a16="http://schemas.microsoft.com/office/drawing/2014/main" id="{66081F23-BA5F-411B-84E6-65E6D198D26C}"/>
              </a:ext>
            </a:extLst>
          </p:cNvPr>
          <p:cNvSpPr>
            <a:spLocks xmlns:a="http://schemas.openxmlformats.org/drawingml/2006/main" noGrp="1"/>
          </p:cNvSpPr>
          <p:nvPr/>
        </p:nvSpPr>
        <p:spPr>
          <a:xfrm xmlns:a="http://schemas.openxmlformats.org/drawingml/2006/main">
            <a:off x="619125" y="3543300"/>
            <a:ext cx="1095375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1" name="Deployment manifest">
            <a:extLst xmlns:a="http://schemas.openxmlformats.org/drawingml/2006/main">
              <a:ext uri="{FF2B5EF4-FFF2-40B4-BE49-F238E27FC236}">
                <a16:creationId xmlns:a16="http://schemas.microsoft.com/office/drawing/2014/main" id="{06E15815-F5F5-4E92-8BAB-2A6CB19D4FCB}"/>
              </a:ext>
            </a:extLst>
          </p:cNvPr>
          <p:cNvSpPr>
            <a:spLocks xmlns:a="http://schemas.openxmlformats.org/drawingml/2006/main" noGrp="1"/>
          </p:cNvSpPr>
          <p:nvPr/>
        </p:nvSpPr>
        <p:spPr>
          <a:xfrm xmlns:a="http://schemas.openxmlformats.org/drawingml/2006/main">
            <a:off x="619125" y="3724275"/>
            <a:ext cx="2819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Deployment manifest</a:t>
            </a:r>
          </a:p>
        </p:txBody>
      </p:sp>
      <p:sp>
        <p:nvSpPr>
          <p:cNvPr id="12" name="building-testnet-v3.json">
            <a:extLst xmlns:a="http://schemas.openxmlformats.org/drawingml/2006/main">
              <a:ext uri="{FF2B5EF4-FFF2-40B4-BE49-F238E27FC236}">
                <a16:creationId xmlns:a16="http://schemas.microsoft.com/office/drawing/2014/main" id="{E87EDBF8-A40D-46CE-8227-89AEA569F840}"/>
              </a:ext>
            </a:extLst>
          </p:cNvPr>
          <p:cNvSpPr>
            <a:spLocks xmlns:a="http://schemas.openxmlformats.org/drawingml/2006/main" noGrp="1"/>
          </p:cNvSpPr>
          <p:nvPr/>
        </p:nvSpPr>
        <p:spPr>
          <a:xfrm xmlns:a="http://schemas.openxmlformats.org/drawingml/2006/main">
            <a:off x="3638550" y="3724275"/>
            <a:ext cx="7781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B58"/>
                </a:solidFill>
                <a:latin typeface="Arial"/>
                <a:ea typeface="Arial"/>
                <a:cs typeface="Arial"/>
              </a:defRPr>
            </a:pPr>
            <a:r>
              <a:rPr sz="1875" b="1">
                <a:solidFill>
                  <a:srgbClr val="176B58"/>
                </a:solidFill>
                <a:latin typeface="Arial"/>
                <a:ea typeface="Arial"/>
                <a:cs typeface="Arial"/>
                <a:hlinkClick xmlns:r="http://schemas.openxmlformats.org/officeDocument/2006/relationships" r:id="R4fde0b446b6b4cd0"/>
              </a:rPr>
              <a:t>building-testnet-v3.json</a:t>
            </a:r>
          </a:p>
        </p:txBody>
      </p:sp>
      <p:sp>
        <p:nvSpPr>
          <p:cNvPr id="13" name="shape">
            <a:extLst xmlns:a="http://schemas.openxmlformats.org/drawingml/2006/main">
              <a:ext uri="{FF2B5EF4-FFF2-40B4-BE49-F238E27FC236}">
                <a16:creationId xmlns:a16="http://schemas.microsoft.com/office/drawing/2014/main" id="{D1F0A544-D82F-40F7-8B20-01993B5B5776}"/>
              </a:ext>
            </a:extLst>
          </p:cNvPr>
          <p:cNvSpPr>
            <a:spLocks xmlns:a="http://schemas.openxmlformats.org/drawingml/2006/main" noGrp="1"/>
          </p:cNvSpPr>
          <p:nvPr/>
        </p:nvSpPr>
        <p:spPr>
          <a:xfrm xmlns:a="http://schemas.openxmlformats.org/drawingml/2006/main">
            <a:off x="619125" y="4267200"/>
            <a:ext cx="1095375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4" name="Payment evidence">
            <a:extLst xmlns:a="http://schemas.openxmlformats.org/drawingml/2006/main">
              <a:ext uri="{FF2B5EF4-FFF2-40B4-BE49-F238E27FC236}">
                <a16:creationId xmlns:a16="http://schemas.microsoft.com/office/drawing/2014/main" id="{386554AE-B98B-4672-8890-2C22E295B200}"/>
              </a:ext>
            </a:extLst>
          </p:cNvPr>
          <p:cNvSpPr>
            <a:spLocks xmlns:a="http://schemas.openxmlformats.org/drawingml/2006/main" noGrp="1"/>
          </p:cNvSpPr>
          <p:nvPr/>
        </p:nvSpPr>
        <p:spPr>
          <a:xfrm xmlns:a="http://schemas.openxmlformats.org/drawingml/2006/main">
            <a:off x="619125" y="4448175"/>
            <a:ext cx="2819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566B60"/>
                </a:solidFill>
                <a:latin typeface="Arial"/>
                <a:ea typeface="Arial"/>
                <a:cs typeface="Arial"/>
              </a:defRPr>
            </a:pPr>
            <a:r>
              <a:rPr sz="1725" b="0">
                <a:solidFill>
                  <a:srgbClr val="566B60"/>
                </a:solidFill>
                <a:latin typeface="Arial"/>
                <a:ea typeface="Arial"/>
                <a:cs typeface="Arial"/>
              </a:rPr>
              <a:t>Payment evidence</a:t>
            </a:r>
          </a:p>
        </p:txBody>
      </p:sp>
      <p:sp>
        <p:nvSpPr>
          <p:cNvPr id="15" name="building-demo-ux-testnet-v3.json">
            <a:extLst xmlns:a="http://schemas.openxmlformats.org/drawingml/2006/main">
              <a:ext uri="{FF2B5EF4-FFF2-40B4-BE49-F238E27FC236}">
                <a16:creationId xmlns:a16="http://schemas.microsoft.com/office/drawing/2014/main" id="{12488482-5B02-4E2C-81D2-DF7B632249FF}"/>
              </a:ext>
            </a:extLst>
          </p:cNvPr>
          <p:cNvSpPr>
            <a:spLocks xmlns:a="http://schemas.openxmlformats.org/drawingml/2006/main" noGrp="1"/>
          </p:cNvSpPr>
          <p:nvPr/>
        </p:nvSpPr>
        <p:spPr>
          <a:xfrm xmlns:a="http://schemas.openxmlformats.org/drawingml/2006/main">
            <a:off x="3638550" y="4448175"/>
            <a:ext cx="7781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1">
                <a:solidFill>
                  <a:srgbClr val="176B58"/>
                </a:solidFill>
                <a:latin typeface="Arial"/>
                <a:ea typeface="Arial"/>
                <a:cs typeface="Arial"/>
              </a:defRPr>
            </a:pPr>
            <a:r>
              <a:rPr sz="1875" b="1">
                <a:solidFill>
                  <a:srgbClr val="176B58"/>
                </a:solidFill>
                <a:latin typeface="Arial"/>
                <a:ea typeface="Arial"/>
                <a:cs typeface="Arial"/>
                <a:hlinkClick xmlns:r="http://schemas.openxmlformats.org/officeDocument/2006/relationships" r:id="R80fd201f3c9241d5"/>
              </a:rPr>
              <a:t>building-demo-ux-testnet-v3.json</a:t>
            </a:r>
          </a:p>
        </p:txBody>
      </p:sp>
      <p:sp>
        <p:nvSpPr>
          <p:cNvPr id="16" name="shape">
            <a:extLst xmlns:a="http://schemas.openxmlformats.org/drawingml/2006/main">
              <a:ext uri="{FF2B5EF4-FFF2-40B4-BE49-F238E27FC236}">
                <a16:creationId xmlns:a16="http://schemas.microsoft.com/office/drawing/2014/main" id="{35C4CBB4-ECDD-4D1A-8F2B-D67B4748599B}"/>
              </a:ext>
            </a:extLst>
          </p:cNvPr>
          <p:cNvSpPr>
            <a:spLocks xmlns:a="http://schemas.openxmlformats.org/drawingml/2006/main" noGrp="1"/>
          </p:cNvSpPr>
          <p:nvPr/>
        </p:nvSpPr>
        <p:spPr>
          <a:xfrm xmlns:a="http://schemas.openxmlformats.org/drawingml/2006/main">
            <a:off x="619125" y="4991100"/>
            <a:ext cx="10953750" cy="14288"/>
          </a:xfrm>
          <a:prstGeom xmlns:a="http://schemas.openxmlformats.org/drawingml/2006/main" prst="rect">
            <a:avLst/>
          </a:prstGeom>
          <a:solidFill xmlns:a="http://schemas.openxmlformats.org/drawingml/2006/main">
            <a:srgbClr val="CFDCCF"/>
          </a:solidFill>
          <a:ln xmlns:a="http://schemas.openxmlformats.org/drawingml/2006/main" w="0">
            <a:noFill/>
          </a:ln>
        </p:spPr>
      </p:sp>
      <p:sp>
        <p:nvSpPr>
          <p:cNvPr id="17" name="Normal treasury on Stellar Testnet">
            <a:extLst xmlns:a="http://schemas.openxmlformats.org/drawingml/2006/main">
              <a:ext uri="{FF2B5EF4-FFF2-40B4-BE49-F238E27FC236}">
                <a16:creationId xmlns:a16="http://schemas.microsoft.com/office/drawing/2014/main" id="{D134E7D9-9D03-4428-AFF0-3E80734B9B2B}"/>
              </a:ext>
            </a:extLst>
          </p:cNvPr>
          <p:cNvSpPr>
            <a:spLocks xmlns:a="http://schemas.openxmlformats.org/drawingml/2006/main" noGrp="1"/>
          </p:cNvSpPr>
          <p:nvPr/>
        </p:nvSpPr>
        <p:spPr>
          <a:xfrm xmlns:a="http://schemas.openxmlformats.org/drawingml/2006/main">
            <a:off x="619125" y="5467350"/>
            <a:ext cx="10715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566B60"/>
                </a:solidFill>
                <a:latin typeface="Arial"/>
                <a:ea typeface="Arial"/>
                <a:cs typeface="Arial"/>
              </a:defRPr>
            </a:pPr>
            <a:r>
              <a:rPr sz="1350" b="0">
                <a:solidFill>
                  <a:srgbClr val="566B60"/>
                </a:solidFill>
                <a:latin typeface="Arial"/>
                <a:ea typeface="Arial"/>
                <a:cs typeface="Arial"/>
              </a:rPr>
              <a:t>Normal treasury on Stellar Testnet</a:t>
            </a:r>
          </a:p>
        </p:txBody>
      </p:sp>
      <p:sp>
        <p:nvSpPr>
          <p:cNvPr id="18" name="CBIGWOYBTFHV32OZWTZSYKP2TLDPHJIDJJSG5XAGG22K6VRSSP">
            <a:extLst xmlns:a="http://schemas.openxmlformats.org/drawingml/2006/main">
              <a:ext uri="{FF2B5EF4-FFF2-40B4-BE49-F238E27FC236}">
                <a16:creationId xmlns:a16="http://schemas.microsoft.com/office/drawing/2014/main" id="{58F33453-FE06-4EB1-B0A5-DA4AA0541544}"/>
              </a:ext>
            </a:extLst>
          </p:cNvPr>
          <p:cNvSpPr>
            <a:spLocks xmlns:a="http://schemas.openxmlformats.org/drawingml/2006/main" noGrp="1"/>
          </p:cNvSpPr>
          <p:nvPr/>
        </p:nvSpPr>
        <p:spPr>
          <a:xfrm xmlns:a="http://schemas.openxmlformats.org/drawingml/2006/main">
            <a:off x="619125" y="5829300"/>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9392F"/>
                </a:solidFill>
                <a:latin typeface="Arial"/>
                <a:ea typeface="Arial"/>
                <a:cs typeface="Arial"/>
              </a:defRPr>
            </a:pPr>
            <a:r>
              <a:rPr sz="1650" b="0">
                <a:solidFill>
                  <a:srgbClr val="19392F"/>
                </a:solidFill>
                <a:latin typeface="Arial"/>
                <a:ea typeface="Arial"/>
                <a:cs typeface="Arial"/>
              </a:rPr>
              <a:t>CBIGWOYBTFHV32OZWTZSYKP2TLDPHJIDJJSG5XAGG22K6VRSSP2MLIMM</a:t>
            </a:r>
          </a:p>
        </p:txBody>
      </p:sp>
    </p:spTree>
    <p:extLst>
      <p:ext uri="{BB962C8B-B14F-4D97-AF65-F5344CB8AC3E}">
        <p14:creationId xmlns:p14="http://schemas.microsoft.com/office/powerpoint/2010/main" val="1538807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2026-09-20T08:21:25.0800000Z</dcterms:created>
  <dcterms:modified xsi:type="dcterms:W3CDTF">2026-09-20T08:21:25.0800000Z</dcterms:modified>
</coreProperties>
</file>